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" cy="2926080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405872" cy="3017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Arial"/>
              </a:defRPr>
            </a:pPr>
            <a:r>
              <a:t>DISCRETE MATHEMATICS &amp; AUTOMATA THEORY • CAPSTONE PRESENTATION</a:t>
            </a:r>
          </a:p>
          <a:p>
            <a:pPr algn="l">
              <a:spcBef>
                <a:spcPts val="800"/>
              </a:spcBef>
              <a:defRPr sz="3000" b="1">
                <a:solidFill>
                  <a:srgbClr val="FFFFFF"/>
                </a:solidFill>
                <a:latin typeface="Arial"/>
              </a:defRPr>
            </a:pPr>
            <a:r>
              <a:t>LogicVerse: An Interactive Visual IDE</a:t>
            </a:r>
            <a:br/>
            <a:r>
              <a:t>for Discrete Math &amp; Automata Theory</a:t>
            </a:r>
          </a:p>
          <a:p>
            <a:pPr algn="l">
              <a:spcBef>
                <a:spcPts val="1000"/>
              </a:spcBef>
              <a:defRPr sz="1350">
                <a:solidFill>
                  <a:srgbClr val="CBD5E1"/>
                </a:solidFill>
                <a:latin typeface="Calibri"/>
              </a:defRPr>
            </a:pPr>
            <a:r>
              <a:t>Build mathematical graphs on a canvas, simulate algorithms step-by-step, observe dynamic Venn diagrams, and receive live pedagogical guidance from LogicAI.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97680"/>
            <a:ext cx="10725912" cy="21031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300" b="1">
                <a:solidFill>
                  <a:srgbClr val="FCD34D"/>
                </a:solidFill>
                <a:latin typeface="Arial"/>
              </a:defRPr>
            </a:pPr>
            <a:r>
              <a:t>PROJECT DOMAINS &amp; PLATFORM ARCHITECTURE</a:t>
            </a:r>
          </a:p>
          <a:p>
            <a:pPr algn="l">
              <a:spcBef>
                <a:spcPts val="7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• Core Focus: </a:t>
            </a:r>
            <a:r>
              <a:rPr sz="1100">
                <a:solidFill>
                  <a:srgbClr val="CBD5E1"/>
                </a:solidFill>
                <a:latin typeface="Calibri"/>
              </a:rPr>
              <a:t>Set Theory, Propositional Logic, Proof Solvers, Relations &amp; Functions, and Finite Automata (DFA/NFA)</a:t>
            </a:r>
          </a:p>
          <a:p>
            <a:pPr algn="l">
              <a:spcBef>
                <a:spcPts val="7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• Key Innovations: </a:t>
            </a:r>
            <a:r>
              <a:rPr sz="1100">
                <a:solidFill>
                  <a:srgbClr val="CBD5E1"/>
                </a:solidFill>
                <a:latin typeface="Calibri"/>
              </a:rPr>
              <a:t>Interactive drag-and-drop canvas, live step-by-step glowing simulation, and context-aware AI tutor</a:t>
            </a:r>
          </a:p>
          <a:p>
            <a:pPr algn="l">
              <a:spcBef>
                <a:spcPts val="7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• Engineering: </a:t>
            </a:r>
            <a:r>
              <a:rPr sz="1100">
                <a:solidFill>
                  <a:srgbClr val="CBD5E1"/>
                </a:solidFill>
                <a:latin typeface="Calibri"/>
              </a:rPr>
              <a:t>Next.js 16, React Flow, Zustand, TypeScript, and Google Gemini LLM with 51 passing automated unit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PROBLEM STATEMENT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Challenge in Learning Math &amp; Our Visual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EB3C3C"/>
                </a:solidFill>
                <a:latin typeface="Arial"/>
              </a:defRPr>
            </a:pPr>
            <a:r>
              <a:t>THE PROBLEM: INVISIBLE &amp; ABSTRACT THEORY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Traditional Textbook Pedagogical Limitations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Static Equations: </a:t>
            </a:r>
            <a:r>
              <a:rPr sz="1100">
                <a:solidFill>
                  <a:srgbClr val="CBD5E1"/>
                </a:solidFill>
                <a:latin typeface="Calibri"/>
              </a:rPr>
              <a:t>Students only read static formulas on paper with no interactive way to test variations.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Invisible State Changes: </a:t>
            </a:r>
            <a:r>
              <a:rPr sz="1100">
                <a:solidFill>
                  <a:srgbClr val="CBD5E1"/>
                </a:solidFill>
                <a:latin typeface="Calibri"/>
              </a:rPr>
              <a:t>Tracing automata transitions (q0 -&gt; q1) or matrix closures by hand leads to frequent mistakes.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No Step-by-Step Guidance: </a:t>
            </a:r>
            <a:r>
              <a:rPr sz="1100">
                <a:solidFill>
                  <a:srgbClr val="CBD5E1"/>
                </a:solidFill>
                <a:latin typeface="Calibri"/>
              </a:rPr>
              <a:t>Textbooks provide final answers without explaining the intermediate logical deductions.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Disconnected Tools: </a:t>
            </a:r>
            <a:r>
              <a:rPr sz="1100">
                <a:solidFill>
                  <a:srgbClr val="CBD5E1"/>
                </a:solidFill>
                <a:latin typeface="Calibri"/>
              </a:rPr>
              <a:t>Venn diagrams, truth tables, and state diagrams are taught in fragmented, single-purpose apps.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High Cognitive Barrier: </a:t>
            </a:r>
            <a:r>
              <a:rPr sz="1100">
                <a:solidFill>
                  <a:srgbClr val="CBD5E1"/>
                </a:solidFill>
                <a:latin typeface="Calibri"/>
              </a:rPr>
              <a:t>Abstract mathematical formalism discourages beginners and makes debugging proofs difficult.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ECACA"/>
                </a:solidFill>
                <a:latin typeface="Calibri"/>
              </a:defRPr>
            </a:pPr>
            <a:r>
              <a:t>Impact: Causes high confusion, lost marks, and cognitive fatigue.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38BDF8"/>
                </a:solidFill>
                <a:latin typeface="Arial"/>
              </a:defRPr>
            </a:pPr>
            <a:r>
              <a:t>OUR SOLUTION: THE LOGICVERSE VISUAL IDE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Unified Interactive Computer Science Laboratory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Visual Graph Canvas: </a:t>
            </a:r>
            <a:r>
              <a:rPr sz="1100">
                <a:solidFill>
                  <a:srgbClr val="CBD5E1"/>
                </a:solidFill>
                <a:latin typeface="Calibri"/>
              </a:rPr>
              <a:t>Build mathematical sets, logic gates, and state machines like modular building blocks.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Live Glowing Simulation: </a:t>
            </a:r>
            <a:r>
              <a:rPr sz="1100">
                <a:solidFill>
                  <a:srgbClr val="CBD5E1"/>
                </a:solidFill>
                <a:latin typeface="Calibri"/>
              </a:rPr>
              <a:t>Watch states and arrows light up step-by-step in real time as test strings are processed.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Instant Formal Math: </a:t>
            </a:r>
            <a:r>
              <a:rPr sz="1100">
                <a:solidFill>
                  <a:srgbClr val="CBD5E1"/>
                </a:solidFill>
                <a:latin typeface="Calibri"/>
              </a:rPr>
              <a:t>Every visual graph automatically outputs Venn diagrams, truth tables, and LaTeX equations.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Context-Aware LogicAI: </a:t>
            </a:r>
            <a:r>
              <a:rPr sz="1100">
                <a:solidFill>
                  <a:srgbClr val="CBD5E1"/>
                </a:solidFill>
                <a:latin typeface="Calibri"/>
              </a:rPr>
              <a:t>An embedded AI tutor that sees your canvas, explains each step, and diagnoses mistakes.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Automated Test Suites: </a:t>
            </a:r>
            <a:r>
              <a:rPr sz="1100">
                <a:solidFill>
                  <a:srgbClr val="CBD5E1"/>
                </a:solidFill>
                <a:latin typeface="Calibri"/>
              </a:rPr>
              <a:t>Run multiple test cases with green accepted and red rejected tags plus step counter logs.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BAE6FD"/>
                </a:solidFill>
                <a:latin typeface="Calibri"/>
              </a:defRPr>
            </a:pPr>
            <a:r>
              <a:t>Outcome: 100% interactive, visual, and beginner-friendly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System Architecture: End-to-End Mathematical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STAGE 01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Visual Canvas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React Flow DAG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User Mouse &amp; Drag</a:t>
            </a:r>
            <a:br/>
            <a:r>
              <a:t>Out: Visual Graph DAG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38BDF8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Custom SVG Nodes: </a:t>
            </a:r>
            <a:r>
              <a:rPr sz="900">
                <a:solidFill>
                  <a:srgbClr val="CBD5E1"/>
                </a:solidFill>
                <a:latin typeface="Calibri"/>
              </a:rPr>
              <a:t>Circular states, double rings, and gate shapes.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Animated Bezier Edges: </a:t>
            </a:r>
            <a:r>
              <a:rPr sz="900">
                <a:solidFill>
                  <a:srgbClr val="CBD5E1"/>
                </a:solidFill>
                <a:latin typeface="Calibri"/>
              </a:rPr>
              <a:t>Curved transition arrows with symbol labels.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Canvas Viewport: </a:t>
            </a:r>
            <a:r>
              <a:rPr sz="900">
                <a:solidFill>
                  <a:srgbClr val="CBD5E1"/>
                </a:solidFill>
                <a:latin typeface="Calibri"/>
              </a:rPr>
              <a:t>Smooth panning, zooming, and snap-to-grid.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React Flow 11</a:t>
            </a:r>
            <a:br/>
            <a:r>
              <a:t>Status: ✓ 100% Operational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10535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F59E0B"/>
                </a:solidFill>
                <a:latin typeface="Arial"/>
              </a:defRPr>
            </a:pPr>
            <a:r>
              <a:t>STAGE 02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Graph Parser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Zustand Store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Canvas Nodes &amp; Edges</a:t>
            </a:r>
            <a:br/>
            <a:r>
              <a:t>Out: Mathematical AST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AST Generation: </a:t>
            </a:r>
            <a:r>
              <a:rPr sz="900">
                <a:solidFill>
                  <a:srgbClr val="CBD5E1"/>
                </a:solidFill>
                <a:latin typeface="Calibri"/>
              </a:rPr>
              <a:t>Parses visual connections into formal models.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State Isolation: </a:t>
            </a:r>
            <a:r>
              <a:rPr sz="900">
                <a:solidFill>
                  <a:srgbClr val="CBD5E1"/>
                </a:solidFill>
                <a:latin typeface="Calibri"/>
              </a:rPr>
              <a:t>Zero re-render latency across dock panels.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Schema Validation: </a:t>
            </a:r>
            <a:r>
              <a:rPr sz="900">
                <a:solidFill>
                  <a:srgbClr val="CBD5E1"/>
                </a:solidFill>
                <a:latin typeface="Calibri"/>
              </a:rPr>
              <a:t>Strict TypeScript runtime verification.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Zustand v5 Store</a:t>
            </a:r>
            <a:br/>
            <a:r>
              <a:t>Status: ✓ 100% Operational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955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EB3C3C"/>
                </a:solidFill>
                <a:latin typeface="Arial"/>
              </a:defRPr>
            </a:pPr>
            <a:r>
              <a:t>STAGE 03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Math Engines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Core Solvers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Mathematical AST</a:t>
            </a:r>
            <a:br/>
            <a:r>
              <a:t>Out: Exact Solution Data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EB3C3C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Automata Solver: </a:t>
            </a:r>
            <a:r>
              <a:rPr sz="900">
                <a:solidFill>
                  <a:srgbClr val="CBD5E1"/>
                </a:solidFill>
                <a:latin typeface="Calibri"/>
              </a:rPr>
              <a:t>Hopcroft minimization &amp; NFA subset construction.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Matrix Engine: </a:t>
            </a:r>
            <a:r>
              <a:rPr sz="900">
                <a:solidFill>
                  <a:srgbClr val="CBD5E1"/>
                </a:solidFill>
                <a:latin typeface="Calibri"/>
              </a:rPr>
              <a:t>Warshall's transitive closure derivation in O(n³).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Logic Solver: </a:t>
            </a:r>
            <a:r>
              <a:rPr sz="900">
                <a:solidFill>
                  <a:srgbClr val="CBD5E1"/>
                </a:solidFill>
                <a:latin typeface="Calibri"/>
              </a:rPr>
              <a:t>Full truth tables &amp; canonical DNF/CNF synthesis.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Core Algorithms</a:t>
            </a:r>
            <a:br/>
            <a:r>
              <a:t>Status: ✓ 100%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8565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10B981"/>
                </a:solidFill>
                <a:latin typeface="Arial"/>
              </a:defRPr>
            </a:pPr>
            <a:r>
              <a:t>STAGE 04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Output Dock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Visual Panels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Computed Data Models</a:t>
            </a:r>
            <a:br/>
            <a:r>
              <a:t>Out: Interactive UI Views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10B981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Dynamic SVG Venn: </a:t>
            </a:r>
            <a:r>
              <a:rPr sz="900">
                <a:solidFill>
                  <a:srgbClr val="CBD5E1"/>
                </a:solidFill>
                <a:latin typeface="Calibri"/>
              </a:rPr>
              <a:t>2-set &amp; 3-set interactive spatial regions.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Live Step Stepper: </a:t>
            </a:r>
            <a:r>
              <a:rPr sz="900">
                <a:solidFill>
                  <a:srgbClr val="CBD5E1"/>
                </a:solidFill>
                <a:latin typeface="Calibri"/>
              </a:rPr>
              <a:t>Animated glowing states and pulsing edges.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Batch Test Suite: </a:t>
            </a:r>
            <a:r>
              <a:rPr sz="900">
                <a:solidFill>
                  <a:srgbClr val="CBD5E1"/>
                </a:solidFill>
                <a:latin typeface="Calibri"/>
              </a:rPr>
              <a:t>Instant green accepted and red rejected tags.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SVG Path &amp; Lucide</a:t>
            </a:r>
            <a:br/>
            <a:r>
              <a:t>Status: ✓ 100%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758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950" b="1">
                <a:solidFill>
                  <a:srgbClr val="A855F7"/>
                </a:solidFill>
                <a:latin typeface="Arial"/>
              </a:defRPr>
            </a:pPr>
            <a:r>
              <a:t>STAGE 05</a:t>
            </a:r>
          </a:p>
          <a:p>
            <a:pPr algn="l">
              <a:spcBef>
                <a:spcPts val="200"/>
              </a:spcBef>
              <a:defRPr sz="1250" b="1">
                <a:solidFill>
                  <a:srgbClr val="FFFFFF"/>
                </a:solidFill>
                <a:latin typeface="Arial"/>
              </a:defRPr>
            </a:pPr>
            <a:r>
              <a:t>LogicAI Tutor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Hybrid AI Engine</a:t>
            </a:r>
          </a:p>
          <a:p>
            <a:pPr algn="l">
              <a:spcBef>
                <a:spcPts val="600"/>
              </a:spcBef>
              <a:defRPr sz="850">
                <a:solidFill>
                  <a:srgbClr val="BAE6FD"/>
                </a:solidFill>
                <a:latin typeface="Calibri"/>
              </a:defRPr>
            </a:pPr>
            <a:r>
              <a:t>In: Canvas State + Prompt</a:t>
            </a:r>
            <a:br/>
            <a:r>
              <a:t>Out: Socratic Guidance</a:t>
            </a:r>
          </a:p>
          <a:p>
            <a:pPr algn="l">
              <a:spcBef>
                <a:spcPts val="600"/>
              </a:spcBef>
              <a:defRPr sz="850" b="1">
                <a:solidFill>
                  <a:srgbClr val="A855F7"/>
                </a:solidFill>
                <a:latin typeface="Arial"/>
              </a:defRPr>
            </a:pPr>
            <a:r>
              <a:t>KEY CAPABILITIES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Canvas Perception: </a:t>
            </a:r>
            <a:r>
              <a:rPr sz="900">
                <a:solidFill>
                  <a:srgbClr val="CBD5E1"/>
                </a:solidFill>
                <a:latin typeface="Calibri"/>
              </a:rPr>
              <a:t>Reads live nodes directly from store.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Live LLM API: </a:t>
            </a:r>
            <a:r>
              <a:rPr sz="900">
                <a:solidFill>
                  <a:srgbClr val="CBD5E1"/>
                </a:solidFill>
                <a:latin typeface="Calibri"/>
              </a:rPr>
              <a:t>Streams explanations via Gemini or Groq.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Offline Fallback: </a:t>
            </a:r>
            <a:r>
              <a:rPr sz="900">
                <a:solidFill>
                  <a:srgbClr val="CBD5E1"/>
                </a:solidFill>
                <a:latin typeface="Calibri"/>
              </a:rPr>
              <a:t>Deterministic AST rules when offline.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A7F3D0"/>
                </a:solidFill>
                <a:latin typeface="Calibri"/>
              </a:defRPr>
            </a:pPr>
            <a:r>
              <a:t>Tech: Gemini 2.5 Flash</a:t>
            </a:r>
            <a:br/>
            <a:r>
              <a:t>Status: ✓ 100% Operational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TECHNOLOGY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Modern Tech Stack Built for Real-Time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38BDF8"/>
                </a:solidFill>
                <a:latin typeface="Arial"/>
              </a:defRPr>
            </a:pPr>
            <a:r>
              <a:t>Next.js 16 &amp; React 19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Modern Web Framework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App Router: </a:t>
            </a:r>
            <a:r>
              <a:rPr sz="900">
                <a:solidFill>
                  <a:srgbClr val="CBD5E1"/>
                </a:solidFill>
                <a:latin typeface="Calibri"/>
              </a:rPr>
              <a:t>High-performance server &amp; client components.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Zero Latency: </a:t>
            </a:r>
            <a:r>
              <a:rPr sz="900">
                <a:solidFill>
                  <a:srgbClr val="CBD5E1"/>
                </a:solidFill>
                <a:latin typeface="Calibri"/>
              </a:rPr>
              <a:t>Instant page loads with no client lag.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Production Ready: </a:t>
            </a:r>
            <a:r>
              <a:rPr sz="900">
                <a:solidFill>
                  <a:srgbClr val="CBD5E1"/>
                </a:solidFill>
                <a:latin typeface="Calibri"/>
              </a:rPr>
              <a:t>Modular architecture deployed on Vercel.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38BDF8"/>
                </a:solidFill>
                <a:latin typeface="Calibri"/>
              </a:defRPr>
            </a:pPr>
            <a:r>
              <a:t>Role: Core Web Shell &amp; API Hosting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F59E0B"/>
                </a:solidFill>
                <a:latin typeface="Arial"/>
              </a:defRPr>
            </a:pPr>
            <a:r>
              <a:t>React Flow Canvas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Graph Visualization Engine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Custom SVG Nodes: </a:t>
            </a:r>
            <a:r>
              <a:rPr sz="900">
                <a:solidFill>
                  <a:srgbClr val="CBD5E1"/>
                </a:solidFill>
                <a:latin typeface="Calibri"/>
              </a:rPr>
              <a:t>Circular states, double rings, and gate shapes.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Interactive Edges: </a:t>
            </a:r>
            <a:r>
              <a:rPr sz="900">
                <a:solidFill>
                  <a:srgbClr val="CBD5E1"/>
                </a:solidFill>
                <a:latin typeface="Calibri"/>
              </a:rPr>
              <a:t>Animated bezier lines with symbol labels.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Viewport Controls: </a:t>
            </a:r>
            <a:r>
              <a:rPr sz="900">
                <a:solidFill>
                  <a:srgbClr val="CBD5E1"/>
                </a:solidFill>
                <a:latin typeface="Calibri"/>
              </a:rPr>
              <a:t>Smooth zooming, panning, and mini-map.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F59E0B"/>
                </a:solidFill>
                <a:latin typeface="Calibri"/>
              </a:defRPr>
            </a:pPr>
            <a:r>
              <a:t>Role: Interactive Graph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087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10B981"/>
                </a:solidFill>
                <a:latin typeface="Arial"/>
              </a:defRPr>
            </a:pPr>
            <a:r>
              <a:t>Zustand State Store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Centralized State Manager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Single Source of Truth: </a:t>
            </a:r>
            <a:r>
              <a:rPr sz="900">
                <a:solidFill>
                  <a:srgbClr val="CBD5E1"/>
                </a:solidFill>
                <a:latin typeface="Calibri"/>
              </a:rPr>
              <a:t>Synchronizes canvas nodes and dock panels.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Instant Recompute: </a:t>
            </a:r>
            <a:r>
              <a:rPr sz="900">
                <a:solidFill>
                  <a:srgbClr val="CBD5E1"/>
                </a:solidFill>
                <a:latin typeface="Calibri"/>
              </a:rPr>
              <a:t>Graph changes update tables immediately.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Lightweight: </a:t>
            </a:r>
            <a:r>
              <a:rPr sz="900">
                <a:solidFill>
                  <a:srgbClr val="CBD5E1"/>
                </a:solidFill>
                <a:latin typeface="Calibri"/>
              </a:rPr>
              <a:t>Zero boilerplate with extreme speed.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10B981"/>
                </a:solidFill>
                <a:latin typeface="Calibri"/>
              </a:defRPr>
            </a:pPr>
            <a:r>
              <a:t>Role: Real-Time Global State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EB3C3C"/>
                </a:solidFill>
                <a:latin typeface="Arial"/>
              </a:defRPr>
            </a:pPr>
            <a:r>
              <a:t>TypeScript &amp; Vitest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Type Safety &amp; Testing Suite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Strict Types: </a:t>
            </a:r>
            <a:r>
              <a:rPr sz="900">
                <a:solidFill>
                  <a:srgbClr val="CBD5E1"/>
                </a:solidFill>
                <a:latin typeface="Calibri"/>
              </a:rPr>
              <a:t>End-to-end typing across all math formulas.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51 Unit Tests: </a:t>
            </a:r>
            <a:r>
              <a:rPr sz="900">
                <a:solidFill>
                  <a:srgbClr val="CBD5E1"/>
                </a:solidFill>
                <a:latin typeface="Calibri"/>
              </a:rPr>
              <a:t>100% pass rate across 9 comprehensive suites.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Algorithm Assurance: </a:t>
            </a:r>
            <a:r>
              <a:rPr sz="900">
                <a:solidFill>
                  <a:srgbClr val="CBD5E1"/>
                </a:solidFill>
                <a:latin typeface="Calibri"/>
              </a:rPr>
              <a:t>Guarantees formal correctness of all solvers.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EB3C3C"/>
                </a:solidFill>
                <a:latin typeface="Calibri"/>
              </a:defRPr>
            </a:pPr>
            <a:r>
              <a:t>Role: Algorithmic Verification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0233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A855F7"/>
                </a:solidFill>
                <a:latin typeface="Arial"/>
              </a:defRPr>
            </a:pPr>
            <a:r>
              <a:t>Google Gemini &amp; LLMs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AI Reasoning Backend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Live Context Injection: </a:t>
            </a:r>
            <a:r>
              <a:rPr sz="900">
                <a:solidFill>
                  <a:srgbClr val="CBD5E1"/>
                </a:solidFill>
                <a:latin typeface="Calibri"/>
              </a:rPr>
              <a:t>Sends current canvas graph state with prompts.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Custom API Keys: </a:t>
            </a:r>
            <a:r>
              <a:rPr sz="900">
                <a:solidFill>
                  <a:srgbClr val="CBD5E1"/>
                </a:solidFill>
                <a:latin typeface="Calibri"/>
              </a:rPr>
              <a:t>Supports Gemini, Groq, and OpenAI via UI settings.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Offline Resilience: </a:t>
            </a:r>
            <a:r>
              <a:rPr sz="900">
                <a:solidFill>
                  <a:srgbClr val="CBD5E1"/>
                </a:solidFill>
                <a:latin typeface="Calibri"/>
              </a:rPr>
              <a:t>Seamless fallback to local AST rules.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A855F7"/>
                </a:solidFill>
                <a:latin typeface="Calibri"/>
              </a:defRPr>
            </a:pPr>
            <a:r>
              <a:t>Role: Context-Aware Mathematical Tutor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023360"/>
            <a:ext cx="3410712" cy="233172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37160"/>
          <a:lstStyle/>
          <a:p>
            <a:pPr algn="l">
              <a:defRPr sz="1250" b="1">
                <a:solidFill>
                  <a:srgbClr val="38BDF8"/>
                </a:solidFill>
                <a:latin typeface="Arial"/>
              </a:defRPr>
            </a:pPr>
            <a:r>
              <a:t>Tailwind CSS</a:t>
            </a:r>
          </a:p>
          <a:p>
            <a:pPr algn="l">
              <a:spcBef>
                <a:spcPts val="2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Design System &amp; Theme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Crimson Orbit: </a:t>
            </a:r>
            <a:r>
              <a:rPr sz="900">
                <a:solidFill>
                  <a:srgbClr val="CBD5E1"/>
                </a:solidFill>
                <a:latin typeface="Calibri"/>
              </a:rPr>
              <a:t>High-contrast dark mode with neon accents.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Glassmorphism: </a:t>
            </a:r>
            <a:r>
              <a:rPr sz="900">
                <a:solidFill>
                  <a:srgbClr val="CBD5E1"/>
                </a:solidFill>
                <a:latin typeface="Calibri"/>
              </a:rPr>
              <a:t>Translucent floating docks and toolbars.</a:t>
            </a:r>
          </a:p>
          <a:p>
            <a:pPr algn="l">
              <a:spcBef>
                <a:spcPts val="5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Micro-Animations: </a:t>
            </a:r>
            <a:r>
              <a:rPr sz="900">
                <a:solidFill>
                  <a:srgbClr val="CBD5E1"/>
                </a:solidFill>
                <a:latin typeface="Calibri"/>
              </a:rPr>
              <a:t>Glowing state transitions and pulse rings.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38BDF8"/>
                </a:solidFill>
                <a:latin typeface="Calibri"/>
              </a:defRPr>
            </a:pPr>
            <a:r>
              <a:t>Role: Premium Visual Aesthetics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1 • SET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1: Set Theory &amp; Dynamic Venn Diagrams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38BDF8"/>
                </a:solidFill>
                <a:latin typeface="Arial"/>
              </a:defRPr>
            </a:pPr>
            <a:r>
              <a:t>SET OPERATIONS &amp; EXPRESSION ENGINE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Set Builder, Boolean Algebra &amp; Power Sets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Visual Set Builder: </a:t>
            </a:r>
            <a:r>
              <a:rPr sz="1100">
                <a:solidFill>
                  <a:srgbClr val="CBD5E1"/>
                </a:solidFill>
                <a:latin typeface="Calibri"/>
              </a:rPr>
              <a:t>Create sets like A = {1, 2, 3} and B = {3, 4, 5} with customized color accents.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Fundamental Operations: </a:t>
            </a:r>
            <a:r>
              <a:rPr sz="1100">
                <a:solidFill>
                  <a:srgbClr val="CBD5E1"/>
                </a:solidFill>
                <a:latin typeface="Calibri"/>
              </a:rPr>
              <a:t>Compute Union (A ∪ B), Intersection (A ∩ B), and Difference (A - B) in real time.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Advanced Operations: </a:t>
            </a:r>
            <a:r>
              <a:rPr sz="1100">
                <a:solidFill>
                  <a:srgbClr val="CBD5E1"/>
                </a:solidFill>
                <a:latin typeface="Calibri"/>
              </a:rPr>
              <a:t>Compute Symmetric Difference (A ⊕ B), Cartesian Product (A × B), and Power Set P(A).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Expression Evaluator: </a:t>
            </a:r>
            <a:r>
              <a:rPr sz="1100">
                <a:solidFill>
                  <a:srgbClr val="CBD5E1"/>
                </a:solidFill>
                <a:latin typeface="Calibri"/>
              </a:rPr>
              <a:t>Parse complex multi-set algebraic formulas with nested brackets and parentheses.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Live Cardinality Output: </a:t>
            </a:r>
            <a:r>
              <a:rPr sz="1100">
                <a:solidFill>
                  <a:srgbClr val="CBD5E1"/>
                </a:solidFill>
                <a:latin typeface="Calibri"/>
              </a:rPr>
              <a:t>Instantly observe set size |A ∪ B| calculations and automatic duplicate elimination.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BAE6FD"/>
                </a:solidFill>
                <a:latin typeface="Calibri"/>
              </a:defRPr>
            </a:pPr>
            <a:r>
              <a:t>Coverage: Complete Boolean Set Algebra, Laws &amp; Power Sets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DYNAMIC SVG VENN DIAGRAMS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2-Set &amp; 3-Set Spatial Partitioning Engine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2-Set &amp; 3-Set Support: </a:t>
            </a:r>
            <a:r>
              <a:rPr sz="1100">
                <a:solidFill>
                  <a:srgbClr val="CBD5E1"/>
                </a:solidFill>
                <a:latin typeface="Calibri"/>
              </a:rPr>
              <a:t>Switch seamlessly between dual-circle and triple-circle mathematical Venn diagrams.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8-Region Partitioning: </a:t>
            </a:r>
            <a:r>
              <a:rPr sz="1100">
                <a:solidFill>
                  <a:srgbClr val="CBD5E1"/>
                </a:solidFill>
                <a:latin typeface="Calibri"/>
              </a:rPr>
              <a:t>Elements are automatically sorted into their exact mathematical intersection zones.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Active Region Glow: </a:t>
            </a:r>
            <a:r>
              <a:rPr sz="1100">
                <a:solidFill>
                  <a:srgbClr val="CBD5E1"/>
                </a:solidFill>
                <a:latin typeface="Calibri"/>
              </a:rPr>
              <a:t>The region matching your active operation lights up with a colorful visual glow.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Dual Notation Views: </a:t>
            </a:r>
            <a:r>
              <a:rPr sz="1100">
                <a:solidFill>
                  <a:srgbClr val="CBD5E1"/>
                </a:solidFill>
                <a:latin typeface="Calibri"/>
              </a:rPr>
              <a:t>Inspect results in formal mathematical set-roster notation alongside visual diagrams.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Real-Time Reactivity: </a:t>
            </a:r>
            <a:r>
              <a:rPr sz="1100">
                <a:solidFill>
                  <a:srgbClr val="CBD5E1"/>
                </a:solidFill>
                <a:latin typeface="Calibri"/>
              </a:rPr>
              <a:t>Modifying set elements or dragging nodes instantly re-partitions Venn regions.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Engine: Pure SVG Math Partitioning with Zero Client Lag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2 • FORMAL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2: Propositional Logic &amp; Truth Tables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A855F7"/>
                </a:solidFill>
                <a:latin typeface="Arial"/>
              </a:defRPr>
            </a:pPr>
            <a:r>
              <a:t>LOGIC GATES CANVAS &amp; AST ENGINE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Boolean DAG Signal Propagation &amp; WFF Builder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Proposition Variables: </a:t>
            </a:r>
            <a:r>
              <a:rPr sz="1100">
                <a:solidFill>
                  <a:srgbClr val="CBD5E1"/>
                </a:solidFill>
                <a:latin typeface="Calibri"/>
              </a:rPr>
              <a:t>Place boolean inputs (P, Q, R, S) with simple True / False clickable toggle buttons.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Complete Operator Library: </a:t>
            </a:r>
            <a:r>
              <a:rPr sz="1100">
                <a:solidFill>
                  <a:srgbClr val="CBD5E1"/>
                </a:solidFill>
                <a:latin typeface="Calibri"/>
              </a:rPr>
              <a:t>Connect variables through AND (∧), OR (∨), NOT (¬), IMPLIES (→), and IFF (↔).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Live Signal Propagation: </a:t>
            </a:r>
            <a:r>
              <a:rPr sz="1100">
                <a:solidFill>
                  <a:srgbClr val="CBD5E1"/>
                </a:solidFill>
                <a:latin typeface="Calibri"/>
              </a:rPr>
              <a:t>Toggle any input and watch True/False signals travel through the DAG immediately.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Formula Synthesizer: </a:t>
            </a:r>
            <a:r>
              <a:rPr sz="1100">
                <a:solidFill>
                  <a:srgbClr val="CBD5E1"/>
                </a:solidFill>
                <a:latin typeface="Calibri"/>
              </a:rPr>
              <a:t>Automatically generates canonical mathematical Well-Formed Formulas (WFF).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Interactive Truth Probes: </a:t>
            </a:r>
            <a:r>
              <a:rPr sz="1100">
                <a:solidFill>
                  <a:srgbClr val="CBD5E1"/>
                </a:solidFill>
                <a:latin typeface="Calibri"/>
              </a:rPr>
              <a:t>Hover over intermediate wires to inspect local sub-formula evaluations.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E9D5FF"/>
                </a:solidFill>
                <a:latin typeface="Calibri"/>
              </a:defRPr>
            </a:pPr>
            <a:r>
              <a:t>Syntax: Well-Formed Formulas (WFF) with Real-Time AST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10B981"/>
                </a:solidFill>
                <a:latin typeface="Arial"/>
              </a:defRPr>
            </a:pPr>
            <a:r>
              <a:t>TRUTH TABLES &amp; FORMAL PROOFS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2ⁿ Exhaustive Interpretation &amp; Normal Forms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Full 2^n Truth Tables: </a:t>
            </a:r>
            <a:r>
              <a:rPr sz="1100">
                <a:solidFill>
                  <a:srgbClr val="CBD5E1"/>
                </a:solidFill>
                <a:latin typeface="Calibri"/>
              </a:rPr>
              <a:t>Generates complete 2^n interpretation tables showing every combination of T and F.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Canonical DNF &amp; CNF: </a:t>
            </a:r>
            <a:r>
              <a:rPr sz="1100">
                <a:solidFill>
                  <a:srgbClr val="CBD5E1"/>
                </a:solidFill>
                <a:latin typeface="Calibri"/>
              </a:rPr>
              <a:t>Automatically calculates Disjunctive and Conjunctive Normal Forms for any expression.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Tautology Checker: </a:t>
            </a:r>
            <a:r>
              <a:rPr sz="1100">
                <a:solidFill>
                  <a:srgbClr val="CBD5E1"/>
                </a:solidFill>
                <a:latin typeface="Calibri"/>
              </a:rPr>
              <a:t>Instantly verifies if an expression is always True (Tautology) or False (Contradiction).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Counter-Example Finder: </a:t>
            </a:r>
            <a:r>
              <a:rPr sz="1100">
                <a:solidFill>
                  <a:srgbClr val="CBD5E1"/>
                </a:solidFill>
                <a:latin typeface="Calibri"/>
              </a:rPr>
              <a:t>If a theorem is invalid, it highlights the exact variable assignment that breaks it.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A7F3D0"/>
                </a:solidFill>
                <a:latin typeface="Calibri"/>
              </a:rPr>
              <a:t>• LaTeX Export: </a:t>
            </a:r>
            <a:r>
              <a:rPr sz="1100">
                <a:solidFill>
                  <a:srgbClr val="CBD5E1"/>
                </a:solidFill>
                <a:latin typeface="Calibri"/>
              </a:rPr>
              <a:t>Renders publication-ready LaTeX syntax for class assignments, quizzes, and papers.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A7F3D0"/>
                </a:solidFill>
                <a:latin typeface="Calibri"/>
              </a:defRPr>
            </a:pPr>
            <a:r>
              <a:t>Output: Exhaustive 2ⁿ Table + Canonical Forms + LaTeX Math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3 • PROOF SOLVERS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3: Step-by-Step Proof &amp; Countability Solvers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10712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137160"/>
          <a:lstStyle/>
          <a:p>
            <a:pPr algn="l">
              <a:defRPr sz="1250" b="1">
                <a:solidFill>
                  <a:srgbClr val="F59E0B"/>
                </a:solidFill>
                <a:latin typeface="Arial"/>
              </a:defRPr>
            </a:pPr>
            <a:r>
              <a:t>INCLUSION-EXCLUSION (PIE)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Cardinality &amp; Survey Counting Solver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CD34D"/>
                </a:solidFill>
                <a:latin typeface="Calibri"/>
              </a:rPr>
              <a:t>• Arithmetic Solver: </a:t>
            </a:r>
            <a:r>
              <a:rPr sz="1000">
                <a:solidFill>
                  <a:srgbClr val="CBD5E1"/>
                </a:solidFill>
                <a:latin typeface="Calibri"/>
              </a:rPr>
              <a:t>Solves survey and cardinality counting problems for 2 and 3 sets.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CD34D"/>
                </a:solidFill>
                <a:latin typeface="Calibri"/>
              </a:rPr>
              <a:t>• Formula Steps: </a:t>
            </a:r>
            <a:r>
              <a:rPr sz="1000">
                <a:solidFill>
                  <a:srgbClr val="CBD5E1"/>
                </a:solidFill>
                <a:latin typeface="Calibri"/>
              </a:rPr>
              <a:t>Breaks down |A ∪ B ∪ C| = Σ|A| - Σ|A ∩ B| + |A ∩ B ∩ C| step-by-step.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CD34D"/>
                </a:solidFill>
                <a:latin typeface="Calibri"/>
              </a:rPr>
              <a:t>• Variable Sliders: </a:t>
            </a:r>
            <a:r>
              <a:rPr sz="1000">
                <a:solidFill>
                  <a:srgbClr val="CBD5E1"/>
                </a:solidFill>
                <a:latin typeface="Calibri"/>
              </a:rPr>
              <a:t>Adjust set sizes and overlap counts with live union recomputation.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CD34D"/>
                </a:solidFill>
                <a:latin typeface="Calibri"/>
              </a:rPr>
              <a:t>• Problem Presets: </a:t>
            </a:r>
            <a:r>
              <a:rPr sz="1000">
                <a:solidFill>
                  <a:srgbClr val="CBD5E1"/>
                </a:solidFill>
                <a:latin typeface="Calibri"/>
              </a:rPr>
              <a:t>Includes real-world examples (student courses, languages, sports).</a:t>
            </a:r>
          </a:p>
          <a:p>
            <a:pPr algn="l">
              <a:spcBef>
                <a:spcPts val="12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Solver: Step-by-step cardinality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410712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137160"/>
          <a:lstStyle/>
          <a:p>
            <a:pPr algn="l">
              <a:defRPr sz="1250" b="1">
                <a:solidFill>
                  <a:srgbClr val="38BDF8"/>
                </a:solidFill>
                <a:latin typeface="Arial"/>
              </a:defRPr>
            </a:pPr>
            <a:r>
              <a:t>CANTOR'S DIAGONALIZATION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Countability &amp; Infinity Verification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BAE6FD"/>
                </a:solidFill>
                <a:latin typeface="Calibri"/>
              </a:rPr>
              <a:t>• Uncountability of R: </a:t>
            </a:r>
            <a:r>
              <a:rPr sz="1000">
                <a:solidFill>
                  <a:srgbClr val="CBD5E1"/>
                </a:solidFill>
                <a:latin typeface="Calibri"/>
              </a:rPr>
              <a:t>Proves real numbers in [0, 1) cannot be mapped 1-to-1 to integers.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BAE6FD"/>
                </a:solidFill>
                <a:latin typeface="Calibri"/>
              </a:rPr>
              <a:t>• Interactive Grid: </a:t>
            </a:r>
            <a:r>
              <a:rPr sz="1000">
                <a:solidFill>
                  <a:srgbClr val="CBD5E1"/>
                </a:solidFill>
                <a:latin typeface="Calibri"/>
              </a:rPr>
              <a:t>Displays an infinite decimal matrix with dynamic diagonal tracking.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BAE6FD"/>
                </a:solidFill>
                <a:latin typeface="Calibri"/>
              </a:rPr>
              <a:t>• Anti-Diagonal Flip: </a:t>
            </a:r>
            <a:r>
              <a:rPr sz="1000">
                <a:solidFill>
                  <a:srgbClr val="CBD5E1"/>
                </a:solidFill>
                <a:latin typeface="Calibri"/>
              </a:rPr>
              <a:t>Inverts diagonal digits to construct a new number not in the list.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BAE6FD"/>
                </a:solidFill>
                <a:latin typeface="Calibri"/>
              </a:rPr>
              <a:t>• Snake Path for Q+: </a:t>
            </a:r>
            <a:r>
              <a:rPr sz="1000">
                <a:solidFill>
                  <a:srgbClr val="CBD5E1"/>
                </a:solidFill>
                <a:latin typeface="Calibri"/>
              </a:rPr>
              <a:t>Visualizes Cantor's snake path mapping ℕ to ℚ⁺ to prove rationals countable.</a:t>
            </a:r>
          </a:p>
          <a:p>
            <a:pPr algn="l">
              <a:spcBef>
                <a:spcPts val="1200"/>
              </a:spcBef>
              <a:defRPr sz="850" b="1">
                <a:solidFill>
                  <a:srgbClr val="BAE6FD"/>
                </a:solidFill>
                <a:latin typeface="Calibri"/>
              </a:defRPr>
            </a:pPr>
            <a:r>
              <a:t>Proof: Interactive anti-diagonal construction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08760"/>
            <a:ext cx="3410712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137160"/>
          <a:lstStyle/>
          <a:p>
            <a:pPr algn="l">
              <a:defRPr sz="1250" b="1">
                <a:solidFill>
                  <a:srgbClr val="EB3C3C"/>
                </a:solidFill>
                <a:latin typeface="Arial"/>
              </a:defRPr>
            </a:pPr>
            <a:r>
              <a:t>MATHEMATICAL INDUCTION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Formal Recursive Proof Pipeline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ECACA"/>
                </a:solidFill>
                <a:latin typeface="Calibri"/>
              </a:rPr>
              <a:t>• 3-Stage Pipeline: </a:t>
            </a:r>
            <a:r>
              <a:rPr sz="1000">
                <a:solidFill>
                  <a:srgbClr val="CBD5E1"/>
                </a:solidFill>
                <a:latin typeface="Calibri"/>
              </a:rPr>
              <a:t>Breaks down Base Step P(1), Hypothesis P(k), and Inductive Step P(k+1).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ECACA"/>
                </a:solidFill>
                <a:latin typeface="Calibri"/>
              </a:rPr>
              <a:t>• Algebraic Expansion: </a:t>
            </a:r>
            <a:r>
              <a:rPr sz="1000">
                <a:solidFill>
                  <a:srgbClr val="CBD5E1"/>
                </a:solidFill>
                <a:latin typeface="Calibri"/>
              </a:rPr>
              <a:t>Expands and factors summation formulas like Σ i = n(n+1)/2 step-by-step.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ECACA"/>
                </a:solidFill>
                <a:latin typeface="Calibri"/>
              </a:rPr>
              <a:t>• Visual Proof Link: </a:t>
            </a:r>
            <a:r>
              <a:rPr sz="1000">
                <a:solidFill>
                  <a:srgbClr val="CBD5E1"/>
                </a:solidFill>
                <a:latin typeface="Calibri"/>
              </a:rPr>
              <a:t>Highlights the exact algebraic substitution connecting P(k) directly to P(k+1).</a:t>
            </a:r>
          </a:p>
          <a:p>
            <a:pPr algn="l"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FECACA"/>
                </a:solidFill>
                <a:latin typeface="Calibri"/>
              </a:rPr>
              <a:t>• Classic Theorems: </a:t>
            </a:r>
            <a:r>
              <a:rPr sz="1000">
                <a:solidFill>
                  <a:srgbClr val="CBD5E1"/>
                </a:solidFill>
                <a:latin typeface="Calibri"/>
              </a:rPr>
              <a:t>Pre-loaded with arithmetic series, geometric sums, and divisibility proofs.</a:t>
            </a:r>
          </a:p>
          <a:p>
            <a:pPr algn="l">
              <a:spcBef>
                <a:spcPts val="1200"/>
              </a:spcBef>
              <a:defRPr sz="850" b="1">
                <a:solidFill>
                  <a:srgbClr val="FECACA"/>
                </a:solidFill>
                <a:latin typeface="Calibri"/>
              </a:defRPr>
            </a:pPr>
            <a:r>
              <a:t>Pipeline: Base Case → Hypothesis → Induction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4 • RELATIONS &amp;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4: Relations, Order Theory &amp;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RELATION MATRIX &amp; PROPERTIES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Binary Relations &amp; Warshall's Algorithm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Interactive Matrix Grid: </a:t>
            </a:r>
            <a:r>
              <a:rPr sz="1100">
                <a:solidFill>
                  <a:srgbClr val="CBD5E1"/>
                </a:solidFill>
                <a:latin typeface="Calibri"/>
              </a:rPr>
              <a:t>Click grid cells to toggle pairs (a, b) on a finite set A = {1, 2, 3, 4}.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Instant Property Checking: </a:t>
            </a:r>
            <a:r>
              <a:rPr sz="1100">
                <a:solidFill>
                  <a:srgbClr val="CBD5E1"/>
                </a:solidFill>
                <a:latin typeface="Calibri"/>
              </a:rPr>
              <a:t>Real-time verification of Reflexive, Symmetric, Transitive, and Anti-symmetric properties.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Equivalence Relations: </a:t>
            </a:r>
            <a:r>
              <a:rPr sz="1100">
                <a:solidFill>
                  <a:srgbClr val="CBD5E1"/>
                </a:solidFill>
                <a:latin typeface="Calibri"/>
              </a:rPr>
              <a:t>Highlights when a relation forms equivalence classes [a] and partitions the set.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Warshall's Algorithm: </a:t>
            </a:r>
            <a:r>
              <a:rPr sz="1100">
                <a:solidFill>
                  <a:srgbClr val="CBD5E1"/>
                </a:solidFill>
                <a:latin typeface="Calibri"/>
              </a:rPr>
              <a:t>Step-by-step matrix derivation computing Transitive Closure R+ in O(n^3) operations.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Directed Relation Graph: </a:t>
            </a:r>
            <a:r>
              <a:rPr sz="1100">
                <a:solidFill>
                  <a:srgbClr val="CBD5E1"/>
                </a:solidFill>
                <a:latin typeface="Calibri"/>
              </a:rPr>
              <a:t>Visualizes relation pairs as a directed graph with animated self-loops and dual edges.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Algorithm: Warshall's Transitive Closure in O(n³) with Step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A855F7"/>
                </a:solidFill>
                <a:latin typeface="Arial"/>
              </a:defRPr>
            </a:pPr>
            <a:r>
              <a:t>HASSE DIAGRAMS &amp; FUNCTIONS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Poset Trees, Lattices &amp; Function Mappings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Hasse Diagrams for Posets: </a:t>
            </a:r>
            <a:r>
              <a:rPr sz="1100">
                <a:solidFill>
                  <a:srgbClr val="CBD5E1"/>
                </a:solidFill>
                <a:latin typeface="Calibri"/>
              </a:rPr>
              <a:t>Draws clean order hierarchy trees by stripping redundant self-loops and transitive edges.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Lattice &amp; Bound Detection: </a:t>
            </a:r>
            <a:r>
              <a:rPr sz="1100">
                <a:solidFill>
                  <a:srgbClr val="CBD5E1"/>
                </a:solidFill>
                <a:latin typeface="Calibri"/>
              </a:rPr>
              <a:t>Identifies maximal/minimal elements, upper/lower bounds, and partial order structures.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Lattice GLB/LUB Analysis: </a:t>
            </a:r>
            <a:r>
              <a:rPr sz="1100">
                <a:solidFill>
                  <a:srgbClr val="CBD5E1"/>
                </a:solidFill>
                <a:latin typeface="Calibri"/>
              </a:rPr>
              <a:t>Verifies if every pair of elements has a unique greatest lower bound and least upper bound.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Function Mapping Analyzer: </a:t>
            </a:r>
            <a:r>
              <a:rPr sz="1100">
                <a:solidFill>
                  <a:srgbClr val="CBD5E1"/>
                </a:solidFill>
                <a:latin typeface="Calibri"/>
              </a:rPr>
              <a:t>Visual arrow diagrams connecting domain elements to codomain targets with vector lines.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Function Classification: </a:t>
            </a:r>
            <a:r>
              <a:rPr sz="1100">
                <a:solidFill>
                  <a:srgbClr val="CBD5E1"/>
                </a:solidFill>
                <a:latin typeface="Calibri"/>
              </a:rPr>
              <a:t>Automatically classifies mappings as Injective (one-to-one), Surjective (onto), or Bijective.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E9D5FF"/>
                </a:solidFill>
                <a:latin typeface="Calibri"/>
              </a:defRPr>
            </a:pPr>
            <a:r>
              <a:t>Hierarchy: Transitive Reduction for Posets + Function Type Classifier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CORE DOMAIN 5 • AUTOMATA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Module 5: Finite Automata (DFA / NFA) Visualizer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38BDF8"/>
                </a:solidFill>
                <a:latin typeface="Arial"/>
              </a:defRPr>
            </a:pPr>
            <a:r>
              <a:t>STATE GRAPH CANVAS &amp; SIMULATION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DFA/NFA Graph Editor &amp; Glowing Step Playback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Custom Circular States: </a:t>
            </a:r>
            <a:r>
              <a:rPr sz="1100">
                <a:solidFill>
                  <a:srgbClr val="CBD5E1"/>
                </a:solidFill>
                <a:latin typeface="Calibri"/>
              </a:rPr>
              <a:t>Add states q0, q1 with start arrow (→q0) and concentric double-rings for accept states.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Glowing Step Playback: </a:t>
            </a:r>
            <a:r>
              <a:rPr sz="1100">
                <a:solidFill>
                  <a:srgbClr val="CBD5E1"/>
                </a:solidFill>
                <a:latin typeface="Calibri"/>
              </a:rPr>
              <a:t>Type an input string (e.g. '101') and watch active states glow with animated pulse rings.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Active Edge Highlighting: </a:t>
            </a:r>
            <a:r>
              <a:rPr sz="1100">
                <a:solidFill>
                  <a:srgbClr val="CBD5E1"/>
                </a:solidFill>
                <a:latin typeface="Calibri"/>
              </a:rPr>
              <a:t>Transition arrows light up with a drop-shadow glow as characters are consumed.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Batch Test Suite: </a:t>
            </a:r>
            <a:r>
              <a:rPr sz="1100">
                <a:solidFill>
                  <a:srgbClr val="CBD5E1"/>
                </a:solidFill>
                <a:latin typeface="Calibri"/>
              </a:rPr>
              <a:t>Test multiple strings simultaneously with green ACCEPTED and red REJECTED badges.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Execution Trace Table: </a:t>
            </a:r>
            <a:r>
              <a:rPr sz="1100">
                <a:solidFill>
                  <a:srgbClr val="CBD5E1"/>
                </a:solidFill>
                <a:latin typeface="Calibri"/>
              </a:rPr>
              <a:t>Displays an interactive step-by-step trace showing current state, symbol, and next state.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BAE6FD"/>
                </a:solidFill>
                <a:latin typeface="Calibri"/>
              </a:defRPr>
            </a:pPr>
            <a:r>
              <a:t>Simulation: Real-Time Glowing State Pulses &amp; Multi-String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EB3C3C"/>
                </a:solidFill>
                <a:latin typeface="Arial"/>
              </a:defRPr>
            </a:pPr>
            <a:r>
              <a:t>CONVERSION &amp; MINIMIZATION SOLVERS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NFA → DFA Subset Construction &amp; Hopcroft Algorithm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NFA → DFA Subset Construction: </a:t>
            </a:r>
            <a:r>
              <a:rPr sz="1100">
                <a:solidFill>
                  <a:srgbClr val="CBD5E1"/>
                </a:solidFill>
                <a:latin typeface="Calibri"/>
              </a:rPr>
              <a:t>Calculates ε-closures and powerset tables with 1-click 'Load Converted DFA to Canvas'.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Hopcroft DFA Minimization: </a:t>
            </a:r>
            <a:r>
              <a:rPr sz="1100">
                <a:solidFill>
                  <a:srgbClr val="CBD5E1"/>
                </a:solidFill>
                <a:latin typeface="Calibri"/>
              </a:rPr>
              <a:t>Runs partition refinement (0-equiv, 1-equiv) and builds the Distinguishability Matrix.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1-Click Minimal Graph: </a:t>
            </a:r>
            <a:r>
              <a:rPr sz="1100">
                <a:solidFill>
                  <a:srgbClr val="CBD5E1"/>
                </a:solidFill>
                <a:latin typeface="Calibri"/>
              </a:rPr>
              <a:t>Instantly merges redundant states and renders the minimal equivalent DFA on screen.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Distinguishability Table: </a:t>
            </a:r>
            <a:r>
              <a:rPr sz="1100">
                <a:solidFill>
                  <a:srgbClr val="CBD5E1"/>
                </a:solidFill>
                <a:latin typeface="Calibri"/>
              </a:rPr>
              <a:t>Displays lower-triangular table marking distinct pairs to visually prove equivalence.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ECACA"/>
                </a:solidFill>
                <a:latin typeface="Calibri"/>
              </a:rPr>
              <a:t>• Moore ⇄ Mealy Transducers: </a:t>
            </a:r>
            <a:r>
              <a:rPr sz="1100">
                <a:solidFill>
                  <a:srgbClr val="CBD5E1"/>
                </a:solidFill>
                <a:latin typeface="Calibri"/>
              </a:rPr>
              <a:t>Simulates state-output vs edge-output machines with cumulative output sequences.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ECACA"/>
                </a:solidFill>
                <a:latin typeface="Calibri"/>
              </a:defRPr>
            </a:pPr>
            <a:r>
              <a:t>Solvers: Hopcroft Minimization + Powerset Engine + Transducers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INTELLIGENT AI TUTORING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LogicAI: Context-Aware Mathematical Tutor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A855F7"/>
                </a:solidFill>
                <a:latin typeface="Arial"/>
              </a:defRPr>
            </a:pPr>
            <a:r>
              <a:t>LIVE CANVAS CONTEXT INJECTION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Real-Time Visual State Perception &amp; Guidance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Direct Canvas Visibility: </a:t>
            </a:r>
            <a:r>
              <a:rPr sz="1100">
                <a:solidFill>
                  <a:srgbClr val="CBD5E1"/>
                </a:solidFill>
                <a:latin typeface="Calibri"/>
              </a:rPr>
              <a:t>LogicAI actually sees what is on your screen: active states, gate inputs, sets, and formulas.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Step-by-Step Explanations: </a:t>
            </a:r>
            <a:r>
              <a:rPr sz="1100">
                <a:solidFill>
                  <a:srgbClr val="CBD5E1"/>
                </a:solidFill>
                <a:latin typeface="Calibri"/>
              </a:rPr>
              <a:t>Click 'Explain this step' to learn exactly why state q0 moved to q1 on reading symbol '0'.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Diagnostic Feedback: </a:t>
            </a:r>
            <a:r>
              <a:rPr sz="1100">
                <a:solidFill>
                  <a:srgbClr val="CBD5E1"/>
                </a:solidFill>
                <a:latin typeface="Calibri"/>
              </a:rPr>
              <a:t>Detects disconnected handles, duplicate elements, or invalid transitions and suggests remedies.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Quick-Action Buttons: </a:t>
            </a:r>
            <a:r>
              <a:rPr sz="1100">
                <a:solidFill>
                  <a:srgbClr val="CBD5E1"/>
                </a:solidFill>
                <a:latin typeface="Calibri"/>
              </a:rPr>
              <a:t>One-click chips for 'Explain this step', 'Generate example', and 'Give me a hint'.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Socratic Guidance: </a:t>
            </a:r>
            <a:r>
              <a:rPr sz="1100">
                <a:solidFill>
                  <a:srgbClr val="CBD5E1"/>
                </a:solidFill>
                <a:latin typeface="Calibri"/>
              </a:rPr>
              <a:t>Prompts students to discover underlying mathematical logic rather than giving raw answers.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E9D5FF"/>
                </a:solidFill>
                <a:latin typeface="Calibri"/>
              </a:defRPr>
            </a:pPr>
            <a:r>
              <a:t>Perception: Injects Complete Active Graph AST Directly into Prompts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38BDF8"/>
                </a:solidFill>
                <a:latin typeface="Arial"/>
              </a:defRPr>
            </a:pPr>
            <a:r>
              <a:t>HYBRID LLM + LOCAL ENGINE ARCHITECTURE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Next.js API Route, Gemini LLM &amp; Offline Fallback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Next.js /api/chat Route: </a:t>
            </a:r>
            <a:r>
              <a:rPr sz="1100">
                <a:solidFill>
                  <a:srgbClr val="CBD5E1"/>
                </a:solidFill>
                <a:latin typeface="Calibri"/>
              </a:rPr>
              <a:t>Server route connecting LogicAI directly to Google Gemini, Groq, and OpenAI models.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In-App Settings Modal: </a:t>
            </a:r>
            <a:r>
              <a:rPr sz="1100">
                <a:solidFill>
                  <a:srgbClr val="CBD5E1"/>
                </a:solidFill>
                <a:latin typeface="Calibri"/>
              </a:rPr>
              <a:t>Students can connect their own free Gemini or Groq API key directly in the UI via the ⚙️ modal.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Answers ANY Question: </a:t>
            </a:r>
            <a:r>
              <a:rPr sz="1100">
                <a:solidFill>
                  <a:srgbClr val="CBD5E1"/>
                </a:solidFill>
                <a:latin typeface="Calibri"/>
              </a:rPr>
              <a:t>With live LLM connected, answers open-ended questions across all computer science theory.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Zero-Crash Offline Fallback: </a:t>
            </a:r>
            <a:r>
              <a:rPr sz="1100">
                <a:solidFill>
                  <a:srgbClr val="CBD5E1"/>
                </a:solidFill>
                <a:latin typeface="Calibri"/>
              </a:rPr>
              <a:t>If no key or internet is available, falls back to local mathematical AST rules smoothly.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BAE6FD"/>
                </a:solidFill>
                <a:latin typeface="Calibri"/>
              </a:rPr>
              <a:t>• Privacy &amp; Local Execution: </a:t>
            </a:r>
            <a:r>
              <a:rPr sz="1100">
                <a:solidFill>
                  <a:srgbClr val="CBD5E1"/>
                </a:solidFill>
                <a:latin typeface="Calibri"/>
              </a:rPr>
              <a:t>Option to run with local models via Ollama with zero student telemetry or data tracking.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BAE6FD"/>
                </a:solidFill>
                <a:latin typeface="Calibri"/>
              </a:defRPr>
            </a:pPr>
            <a:r>
              <a:t>Backend: Secure /api/chat Streaming + Deterministic Offline AST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Team Roles &amp; Technical Contribution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38BDF8"/>
                </a:solidFill>
                <a:latin typeface="Arial"/>
              </a:defRPr>
            </a:pPr>
            <a:r>
              <a:t>Team Member 1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Lead Architect &amp; Automata Engineer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38BDF8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Automata Engine: </a:t>
            </a:r>
            <a:r>
              <a:rPr sz="900">
                <a:solidFill>
                  <a:srgbClr val="CBD5E1"/>
                </a:solidFill>
                <a:latin typeface="Calibri"/>
              </a:rPr>
              <a:t>DFA/NFA simulator, glowing stepper, and batch test runner.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Algorithms: </a:t>
            </a:r>
            <a:r>
              <a:rPr sz="900">
                <a:solidFill>
                  <a:srgbClr val="CBD5E1"/>
                </a:solidFill>
                <a:latin typeface="Calibri"/>
              </a:rPr>
              <a:t>NFA to DFA subset construction &amp; Hopcroft DFA minimization.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LogicAI Chatbot: </a:t>
            </a:r>
            <a:r>
              <a:rPr sz="900">
                <a:solidFill>
                  <a:srgbClr val="CBD5E1"/>
                </a:solidFill>
                <a:latin typeface="Calibri"/>
              </a:rPr>
              <a:t>Canvas context injection &amp; live LLM integration with API modal.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Frontend IDE: </a:t>
            </a:r>
            <a:r>
              <a:rPr sz="900">
                <a:solidFill>
                  <a:srgbClr val="CBD5E1"/>
                </a:solidFill>
                <a:latin typeface="Calibri"/>
              </a:rPr>
              <a:t>Next.js 16 shell, dock panels, and custom glowing node components.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Next.js 16 • React Flow • Gemini LLM</a:t>
            </a:r>
            <a:br/>
            <a:r>
              <a:t>Status: ✓ Verified &amp;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10535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F59E0B"/>
                </a:solidFill>
                <a:latin typeface="Arial"/>
              </a:defRPr>
            </a:pPr>
            <a:r>
              <a:t>Team Member 2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Set Theory &amp; Venn Specialist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F59E0B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Set Builder: </a:t>
            </a:r>
            <a:r>
              <a:rPr sz="900">
                <a:solidFill>
                  <a:srgbClr val="CBD5E1"/>
                </a:solidFill>
                <a:latin typeface="Calibri"/>
              </a:rPr>
              <a:t>Custom sets, set roster notation, and bracket parsing.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Set Operations: </a:t>
            </a:r>
            <a:r>
              <a:rPr sz="900">
                <a:solidFill>
                  <a:srgbClr val="CBD5E1"/>
                </a:solidFill>
                <a:latin typeface="Calibri"/>
              </a:rPr>
              <a:t>Union, Intersection, Difference, and Power Set P(A).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Dynamic Venn: </a:t>
            </a:r>
            <a:r>
              <a:rPr sz="900">
                <a:solidFill>
                  <a:srgbClr val="CBD5E1"/>
                </a:solidFill>
                <a:latin typeface="Calibri"/>
              </a:rPr>
              <a:t>Interactive 2-set &amp; 3-set SVG diagrams with 8-region spatial sorting.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Live Reactivity: </a:t>
            </a:r>
            <a:r>
              <a:rPr sz="900">
                <a:solidFill>
                  <a:srgbClr val="CBD5E1"/>
                </a:solidFill>
                <a:latin typeface="Calibri"/>
              </a:rPr>
              <a:t>Zustand synchronization re-evaluating sets upon node mutations.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SVG Math • Set Theory • Zustand</a:t>
            </a:r>
            <a:br/>
            <a:r>
              <a:t>Status: ✓ Verified &amp; Tested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955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10B981"/>
                </a:solidFill>
                <a:latin typeface="Arial"/>
              </a:defRPr>
            </a:pPr>
            <a:r>
              <a:t>Team Member 3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Propositional Logic Specialist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10B981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Logic Gate Canvas: </a:t>
            </a:r>
            <a:r>
              <a:rPr sz="900">
                <a:solidFill>
                  <a:srgbClr val="CBD5E1"/>
                </a:solidFill>
                <a:latin typeface="Calibri"/>
              </a:rPr>
              <a:t>AND, OR, NOT, IMPLIES, and IFF gates with signal flow.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Truth Table Engine: </a:t>
            </a:r>
            <a:r>
              <a:rPr sz="900">
                <a:solidFill>
                  <a:srgbClr val="CBD5E1"/>
                </a:solidFill>
                <a:latin typeface="Calibri"/>
              </a:rPr>
              <a:t>Exhaustive 2^n valuation tables for up to 16 boolean variables.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Normal Forms: </a:t>
            </a:r>
            <a:r>
              <a:rPr sz="900">
                <a:solidFill>
                  <a:srgbClr val="CBD5E1"/>
                </a:solidFill>
                <a:latin typeface="Calibri"/>
              </a:rPr>
              <a:t>Automated DNF, CNF, and formal Tautology / Contradiction verification.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LaTeX Export: </a:t>
            </a:r>
            <a:r>
              <a:rPr sz="900">
                <a:solidFill>
                  <a:srgbClr val="CBD5E1"/>
                </a:solidFill>
                <a:latin typeface="Calibri"/>
              </a:rPr>
              <a:t>Mathematical formula synthesis into publication LaTeX.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Boolean AST • Formal Logic • Proofs</a:t>
            </a:r>
            <a:br/>
            <a:r>
              <a:t>Status: ✓ Verified &amp;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8565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A855F7"/>
                </a:solidFill>
                <a:latin typeface="Arial"/>
              </a:defRPr>
            </a:pPr>
            <a:r>
              <a:t>Team Member 4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Proof &amp; Verification Specialist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A855F7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PIE Counting Solver: </a:t>
            </a:r>
            <a:r>
              <a:rPr sz="900">
                <a:solidFill>
                  <a:srgbClr val="CBD5E1"/>
                </a:solidFill>
                <a:latin typeface="Calibri"/>
              </a:rPr>
              <a:t>Step-by-step arithmetic solver for Inclusion-Exclusion problems.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Cantor Visualizer: </a:t>
            </a:r>
            <a:r>
              <a:rPr sz="900">
                <a:solidFill>
                  <a:srgbClr val="CBD5E1"/>
                </a:solidFill>
                <a:latin typeface="Calibri"/>
              </a:rPr>
              <a:t>Uncountability proof of R with interactive anti-diagonal inversion.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Snake Path Engine: </a:t>
            </a:r>
            <a:r>
              <a:rPr sz="900">
                <a:solidFill>
                  <a:srgbClr val="CBD5E1"/>
                </a:solidFill>
                <a:latin typeface="Calibri"/>
              </a:rPr>
              <a:t>Countability of positive rational numbers ℚ⁺ via snake grid.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Induction Pipeline: </a:t>
            </a:r>
            <a:r>
              <a:rPr sz="900">
                <a:solidFill>
                  <a:srgbClr val="CBD5E1"/>
                </a:solidFill>
                <a:latin typeface="Calibri"/>
              </a:rPr>
              <a:t>Base step, hypothesis, and inductive step proof derivations.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Proof Theory • Number Theory • Algorithms</a:t>
            </a:r>
            <a:br/>
            <a:r>
              <a:t>Status: ✓ Verified &amp; Tested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7580" y="1508760"/>
            <a:ext cx="20116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EB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137160"/>
          <a:lstStyle/>
          <a:p>
            <a:pPr algn="l">
              <a:defRPr sz="1300" b="1">
                <a:solidFill>
                  <a:srgbClr val="EB3C3C"/>
                </a:solidFill>
                <a:latin typeface="Arial"/>
              </a:defRPr>
            </a:pPr>
            <a:r>
              <a:t>Team Member 5</a:t>
            </a:r>
          </a:p>
          <a:p>
            <a:pPr algn="l">
              <a:spcBef>
                <a:spcPts val="200"/>
              </a:spcBef>
              <a:defRPr sz="950" b="1">
                <a:solidFill>
                  <a:srgbClr val="FFFFFF"/>
                </a:solidFill>
                <a:latin typeface="Calibri"/>
              </a:defRPr>
            </a:pPr>
            <a:r>
              <a:t>Relations &amp; Order Specialist</a:t>
            </a:r>
          </a:p>
          <a:p>
            <a:pPr algn="l">
              <a:spcBef>
                <a:spcPts val="800"/>
              </a:spcBef>
              <a:defRPr sz="850" b="1">
                <a:solidFill>
                  <a:srgbClr val="EB3C3C"/>
                </a:solidFill>
                <a:latin typeface="Arial"/>
              </a:defRPr>
            </a:pPr>
            <a:r>
              <a:t>CORE DELIVERABLES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Relation Matrix: </a:t>
            </a:r>
            <a:r>
              <a:rPr sz="900">
                <a:solidFill>
                  <a:srgbClr val="CBD5E1"/>
                </a:solidFill>
                <a:latin typeface="Calibri"/>
              </a:rPr>
              <a:t>Interactive matrix checking Reflexive, Symmetric, and Transitive rules.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Warshall's Algorithm: </a:t>
            </a:r>
            <a:r>
              <a:rPr sz="900">
                <a:solidFill>
                  <a:srgbClr val="CBD5E1"/>
                </a:solidFill>
                <a:latin typeface="Calibri"/>
              </a:rPr>
              <a:t>Step-by-step matrix derivation computing transitive closure R+.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Hasse Diagrams: </a:t>
            </a:r>
            <a:r>
              <a:rPr sz="900">
                <a:solidFill>
                  <a:srgbClr val="CBD5E1"/>
                </a:solidFill>
                <a:latin typeface="Calibri"/>
              </a:rPr>
              <a:t>Automated poset trees stripping reflexive and transitive edges.</a:t>
            </a:r>
          </a:p>
          <a:p>
            <a:pPr algn="l">
              <a:spcBef>
                <a:spcPts val="600"/>
              </a:spcBef>
            </a:pPr>
            <a:r>
              <a:rPr sz="950" b="1">
                <a:solidFill>
                  <a:srgbClr val="FFFFFF"/>
                </a:solidFill>
                <a:latin typeface="Calibri"/>
              </a:rPr>
              <a:t>• Function Analyzer: </a:t>
            </a:r>
            <a:r>
              <a:rPr sz="900">
                <a:solidFill>
                  <a:srgbClr val="CBD5E1"/>
                </a:solidFill>
                <a:latin typeface="Calibri"/>
              </a:rPr>
              <a:t>Arrow mapping vectors with Injective / Surjective classification.</a:t>
            </a:r>
          </a:p>
          <a:p>
            <a:pPr algn="l">
              <a:spcBef>
                <a:spcPts val="1000"/>
              </a:spcBef>
              <a:defRPr sz="850" b="1">
                <a:solidFill>
                  <a:srgbClr val="FCD34D"/>
                </a:solidFill>
                <a:latin typeface="Calibri"/>
              </a:defRPr>
            </a:pPr>
            <a:r>
              <a:t>Stack: Matrix Ops • Order Theory • Graph Math</a:t>
            </a:r>
            <a:br/>
            <a:r>
              <a:t>Status: ✓ Verified &amp; Tested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FUTURE EXPANSION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Future Roadmap: Context-Free Grammars &amp; Turing Machines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F59E0B"/>
                </a:solidFill>
                <a:latin typeface="Arial"/>
              </a:defRPr>
            </a:pPr>
            <a:r>
              <a:t>MODULE 6: CONTEXT-FREE GRAMMAR (CFG) [PHASE 2]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Grammar Rules, Parse Trees &amp; Chomsky Normal Form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Grammar Rule Builder: </a:t>
            </a:r>
            <a:r>
              <a:rPr sz="1100">
                <a:solidFill>
                  <a:srgbClr val="CBD5E1"/>
                </a:solidFill>
                <a:latin typeface="Calibri"/>
              </a:rPr>
              <a:t>Interactive editor to type production rules like S -&gt; aSb | ε.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Dynamic Parse Trees: </a:t>
            </a:r>
            <a:r>
              <a:rPr sz="1100">
                <a:solidFill>
                  <a:srgbClr val="CBD5E1"/>
                </a:solidFill>
                <a:latin typeface="Calibri"/>
              </a:rPr>
              <a:t>Visual syntax tree generation showing exact leftmost and rightmost derivation steps.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Chomsky Normal Form (CNF): </a:t>
            </a:r>
            <a:r>
              <a:rPr sz="1100">
                <a:solidFill>
                  <a:srgbClr val="CBD5E1"/>
                </a:solidFill>
                <a:latin typeface="Calibri"/>
              </a:rPr>
              <a:t>Automated 4-step converter eliminating ε-rules, unit rules, and useless symbols.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CYK Parsing Algorithm: </a:t>
            </a:r>
            <a:r>
              <a:rPr sz="1100">
                <a:solidFill>
                  <a:srgbClr val="CBD5E1"/>
                </a:solidFill>
                <a:latin typeface="Calibri"/>
              </a:rPr>
              <a:t>Dynamic programming triangular parsing table verifying string membership in O(n^3).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FCD34D"/>
                </a:solidFill>
                <a:latin typeface="Calibri"/>
              </a:rPr>
              <a:t>• Ambiguity Detection: </a:t>
            </a:r>
            <a:r>
              <a:rPr sz="1100">
                <a:solidFill>
                  <a:srgbClr val="CBD5E1"/>
                </a:solidFill>
                <a:latin typeface="Calibri"/>
              </a:rPr>
              <a:t>Highlights ambiguous grammars that produce multiple distinct parse trees for one string.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FCD34D"/>
                </a:solidFill>
                <a:latin typeface="Calibri"/>
              </a:defRPr>
            </a:pPr>
            <a:r>
              <a:t>Phase 2 Target: Visual CFG Syntax Trees &amp; CYK Parsing Grid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508760"/>
            <a:ext cx="5212080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228600" bIns="182880"/>
          <a:lstStyle/>
          <a:p>
            <a:pPr algn="l">
              <a:defRPr sz="1400" b="1">
                <a:solidFill>
                  <a:srgbClr val="A855F7"/>
                </a:solidFill>
                <a:latin typeface="Arial"/>
              </a:defRPr>
            </a:pPr>
            <a:r>
              <a:t>MODULE 7: PDA &amp; TURING MACHINES [PHASE 2]</a:t>
            </a:r>
          </a:p>
          <a:p>
            <a:pPr algn="l">
              <a:spcBef>
                <a:spcPts val="200"/>
              </a:spcBef>
              <a:defRPr sz="1050" b="1">
                <a:solidFill>
                  <a:srgbClr val="FCD34D"/>
                </a:solidFill>
                <a:latin typeface="Calibri"/>
              </a:defRPr>
            </a:pPr>
            <a:r>
              <a:t>Pushdown Automata, Stack Memory &amp; Infinite Tape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Pushdown Automata (PDA): </a:t>
            </a:r>
            <a:r>
              <a:rPr sz="1100">
                <a:solidFill>
                  <a:srgbClr val="CBD5E1"/>
                </a:solidFill>
                <a:latin typeface="Calibri"/>
              </a:rPr>
              <a:t>Interactive LIFO stack animator showing real-time push and pop transitions.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Dual Acceptance Modes: </a:t>
            </a:r>
            <a:r>
              <a:rPr sz="1100">
                <a:solidFill>
                  <a:srgbClr val="CBD5E1"/>
                </a:solidFill>
                <a:latin typeface="Calibri"/>
              </a:rPr>
              <a:t>Visualize acceptance by Final State vs Empty Stack criteria.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Turing Machine Infinite Tape: </a:t>
            </a:r>
            <a:r>
              <a:rPr sz="1100">
                <a:solidFill>
                  <a:srgbClr val="CBD5E1"/>
                </a:solidFill>
                <a:latin typeface="Calibri"/>
              </a:rPr>
              <a:t>Interactive 2-way tape with head movements (Left, Right, Stay).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Multi-Tape Simulation: </a:t>
            </a:r>
            <a:r>
              <a:rPr sz="1100">
                <a:solidFill>
                  <a:srgbClr val="CBD5E1"/>
                </a:solidFill>
                <a:latin typeface="Calibri"/>
              </a:rPr>
              <a:t>Visual execution of multi-tape Turing machines for complex computational problems.</a:t>
            </a:r>
          </a:p>
          <a:p>
            <a:pPr algn="l">
              <a:spcBef>
                <a:spcPts val="1000"/>
              </a:spcBef>
              <a:spcAft>
                <a:spcPts val="100"/>
              </a:spcAft>
            </a:pPr>
            <a:r>
              <a:rPr sz="1200" b="1">
                <a:solidFill>
                  <a:srgbClr val="E9D5FF"/>
                </a:solidFill>
                <a:latin typeface="Calibri"/>
              </a:rPr>
              <a:t>• Halting Problem Proofs: </a:t>
            </a:r>
            <a:r>
              <a:rPr sz="1100">
                <a:solidFill>
                  <a:srgbClr val="CBD5E1"/>
                </a:solidFill>
                <a:latin typeface="Calibri"/>
              </a:rPr>
              <a:t>Visual explanations of computability limits and undecidable languages.</a:t>
            </a:r>
          </a:p>
          <a:p>
            <a:pPr algn="l">
              <a:spcBef>
                <a:spcPts val="1400"/>
              </a:spcBef>
              <a:defRPr sz="1000" b="1">
                <a:solidFill>
                  <a:srgbClr val="E9D5FF"/>
                </a:solidFill>
                <a:latin typeface="Calibri"/>
              </a:defRPr>
            </a:pPr>
            <a:r>
              <a:t>Phase 2 Target: LIFO Stack Visualizer &amp; Turing Halting Proofs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5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B3C3C"/>
                </a:solidFill>
                <a:latin typeface="Arial"/>
              </a:defRPr>
            </a:pPr>
            <a:r>
              <a:t>SUMMARY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591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Arial"/>
              </a:defRPr>
            </a:pPr>
            <a:r>
              <a:t>Conclusion: Making Computer Science Theory Tangible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5912" cy="32004"/>
          </a:xfrm>
          <a:prstGeom prst="rect">
            <a:avLst/>
          </a:prstGeom>
          <a:solidFill>
            <a:srgbClr val="EB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5912" cy="4892040"/>
          </a:xfrm>
          <a:prstGeom prst="roundRect">
            <a:avLst>
              <a:gd name="adj" fmla="val 4000"/>
            </a:avLst>
          </a:prstGeom>
          <a:solidFill>
            <a:srgbClr val="191E2A"/>
          </a:solidFill>
          <a:ln w="222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74320" bIns="228600"/>
          <a:lstStyle/>
          <a:p>
            <a:pPr algn="l">
              <a:defRPr sz="1500" b="1">
                <a:solidFill>
                  <a:srgbClr val="10B981"/>
                </a:solidFill>
                <a:latin typeface="Arial"/>
              </a:defRPr>
            </a:pPr>
            <a:r>
              <a:t>LOGICVERSE IMPACT SUMMARY &amp; KEY TAKEAWAYS</a:t>
            </a:r>
          </a:p>
          <a:p>
            <a:pPr algn="l">
              <a:spcBef>
                <a:spcPts val="200"/>
              </a:spcBef>
              <a:defRPr sz="1100" b="1">
                <a:solidFill>
                  <a:srgbClr val="FCD34D"/>
                </a:solidFill>
                <a:latin typeface="Calibri"/>
              </a:defRPr>
            </a:pPr>
            <a:r>
              <a:t>Transforming Theoretical Computer Science Education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Interactive Learning Paradigm: </a:t>
            </a:r>
            <a:r>
              <a:rPr sz="1150">
                <a:solidFill>
                  <a:srgbClr val="CBD5E1"/>
                </a:solidFill>
                <a:latin typeface="Calibri"/>
              </a:rPr>
              <a:t>Replaces static equations and dry paper proofs with hands-on visual canvas simulation.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5 Core Disciplines Fully Operational: </a:t>
            </a:r>
            <a:r>
              <a:rPr sz="1150">
                <a:solidFill>
                  <a:srgbClr val="CBD5E1"/>
                </a:solidFill>
                <a:latin typeface="Calibri"/>
              </a:rPr>
              <a:t>Set Theory, Propositional Logic, Proof Solvers, Relations/Functions, and Finite Automata running with 51 passing automated tests.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Real AI Context Integration: </a:t>
            </a:r>
            <a:r>
              <a:rPr sz="1150">
                <a:solidFill>
                  <a:srgbClr val="CBD5E1"/>
                </a:solidFill>
                <a:latin typeface="Calibri"/>
              </a:rPr>
              <a:t>LogicAI is not a generic chatbot; it has direct visibility into canvas nodes and gives personalized pedagogical guidance.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Production-Grade Engineering: </a:t>
            </a:r>
            <a:r>
              <a:rPr sz="1150">
                <a:solidFill>
                  <a:srgbClr val="CBD5E1"/>
                </a:solidFill>
                <a:latin typeface="Calibri"/>
              </a:rPr>
              <a:t>Built on Next.js 16, React Flow, TypeScript, and Zustand with instant load times and zero compilation errors.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✓  Extensible Architecture Ready for Phase 2: </a:t>
            </a:r>
            <a:r>
              <a:rPr sz="1150">
                <a:solidFill>
                  <a:srgbClr val="CBD5E1"/>
                </a:solidFill>
                <a:latin typeface="Calibri"/>
              </a:rPr>
              <a:t>Modular design enables seamless plug-and-play addition of Context-Free Grammars and Turing Machines.</a:t>
            </a:r>
          </a:p>
          <a:p>
            <a:pPr algn="l">
              <a:spcBef>
                <a:spcPts val="1800"/>
              </a:spcBef>
              <a:defRPr sz="1350" b="1">
                <a:solidFill>
                  <a:srgbClr val="FCD34D"/>
                </a:solidFill>
                <a:latin typeface="Arial"/>
              </a:defRPr>
            </a:pPr>
            <a:r>
              <a:t>Thank You! • Open for Live Demonstration &amp; Questions</a:t>
            </a:r>
          </a:p>
          <a:p>
            <a:pPr algn="l">
              <a:spcBef>
                <a:spcPts val="400"/>
              </a:spcBef>
              <a:defRPr sz="1100">
                <a:solidFill>
                  <a:srgbClr val="BAE6FD"/>
                </a:solidFill>
                <a:latin typeface="Calibri"/>
              </a:defRPr>
            </a:pPr>
            <a:r>
              <a:t>GitHub Repository: https://github.com/akash20065ray-sys/Logic_verse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