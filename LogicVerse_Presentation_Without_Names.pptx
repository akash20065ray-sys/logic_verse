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9728" cy="3108960"/>
          </a:xfrm>
          <a:prstGeom prst="rect">
            <a:avLst/>
          </a:prstGeom>
          <a:solidFill>
            <a:srgbClr val="EB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424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DISCRETE MATHEMATICS &amp; THEORY OF COMPUTATION • CAPSTONE PROJECT</a:t>
            </a:r>
          </a:p>
          <a:p>
            <a:pPr>
              <a:spcBef>
                <a:spcPts val="800"/>
              </a:spcBef>
              <a:defRPr sz="2800" b="1">
                <a:solidFill>
                  <a:srgbClr val="FFFFFF"/>
                </a:solidFill>
                <a:latin typeface="Arial"/>
              </a:defRPr>
            </a:pPr>
            <a:r>
              <a:t>LogicVerse: An Interactive Visual IDE</a:t>
            </a:r>
            <a:br/>
            <a:r>
              <a:t>for Discrete Math &amp; Automata Theory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  <a:latin typeface="Calibri"/>
              </a:defRPr>
            </a:pPr>
            <a:r>
              <a:t>Build mathematical graphs on a canvas, simulate algorithms step-by-step, see live animated state transitions, and learn with an intelligent AI tutor.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389120"/>
            <a:ext cx="10725912" cy="19202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EB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1200" b="1">
                <a:solidFill>
                  <a:srgbClr val="FCD34D"/>
                </a:solidFill>
                <a:latin typeface="Arial"/>
              </a:defRPr>
            </a:pPr>
            <a:r>
              <a:t>PROJECT OVERVIEW &amp; PRESENTATION DETAILS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  <a:latin typeface="Calibri"/>
              </a:defRPr>
            </a:pPr>
            <a:r>
              <a:t>• Domain Scope: Set Theory, Propositional Logic, Relations &amp; Functions, Finite Automata (DFA/NFA)</a:t>
            </a:r>
          </a:p>
          <a:p>
            <a:pPr>
              <a:defRPr sz="1150">
                <a:solidFill>
                  <a:srgbClr val="CBD5E1"/>
                </a:solidFill>
                <a:latin typeface="Calibri"/>
              </a:defRPr>
            </a:pPr>
            <a:r>
              <a:t>• Key Technologies: Next.js, React Flow Interactive Canvas, TypeScript, Zustand, Google Gemini LLM</a:t>
            </a:r>
          </a:p>
          <a:p>
            <a:pPr>
              <a:defRPr sz="1150">
                <a:solidFill>
                  <a:srgbClr val="CBD5E1"/>
                </a:solidFill>
                <a:latin typeface="Calibri"/>
              </a:defRPr>
            </a:pPr>
            <a:r>
              <a:t>• Focus: Replacing dry blackboard theory with live, step-by-step visual mathematical simulation.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B3C3C"/>
                </a:solidFill>
                <a:latin typeface="Arial"/>
              </a:defRPr>
            </a:pPr>
            <a:r>
              <a:t>WHY WE BUILT LOGICVERSE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The Challenge in Learning Math &amp; Our Visual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5912" cy="36576"/>
          </a:xfrm>
          <a:prstGeom prst="rect">
            <a:avLst/>
          </a:prstGeom>
          <a:solidFill>
            <a:srgbClr val="EB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EB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defRPr sz="1300" b="1">
                <a:solidFill>
                  <a:srgbClr val="EB3C3C"/>
                </a:solidFill>
                <a:latin typeface="Arial"/>
              </a:defRPr>
            </a:pPr>
            <a:r>
              <a:t>THE PROBLEM: ABSTRACT &amp; HARD TO SEE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Static Textbooks: Students only read formulas on paper with no way to interact or test variations.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Invisible State Changes: Tracing automata transitions (q0 -&gt; q1) or Warshall's algorithm by hand causes mistakes.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No Step-by-Step Feedback: When students get an answer wrong, textbook solutions do not explain the exact step where things went wrong.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Fragmented Tools: Venn diagrams, truth tables, and state machines are taught in separate, disconnected apps.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defRPr sz="1300" b="1">
                <a:solidFill>
                  <a:srgbClr val="38BDF8"/>
                </a:solidFill>
                <a:latin typeface="Arial"/>
              </a:defRPr>
            </a:pPr>
            <a:r>
              <a:t>OUR SOLUTION: LOGICVERSE VISUAL IDE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• Drag-and-Drop Canvas: Students build mathematical sets, logic gates, and state machines like building blocks.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• Live Glowing Simulation: Watch states and arrows light up step-by-step as test strings are processed in real time.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• Instant Formal Math: Every visual graph automatically outputs Venn diagrams, truth tables, and formal LaTeX notation.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• Built-in LogicAI Tutor: An AI tutor that can see your canvas, explain your steps, and answer any discrete math question.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B3C3C"/>
                </a:solidFill>
                <a:latin typeface="Arial"/>
              </a:defRPr>
            </a:pPr>
            <a:r>
              <a:t>HOW LOGICVERSE WORKS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System Architecture: From Visual Canvas to Mathematical Solvers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5912" cy="36576"/>
          </a:xfrm>
          <a:prstGeom prst="rect">
            <a:avLst/>
          </a:prstGeom>
          <a:solidFill>
            <a:srgbClr val="EB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993392" cy="46634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28600"/>
          <a:lstStyle/>
          <a:p>
            <a:pPr algn="ctr">
              <a:defRPr sz="1150" b="1">
                <a:solidFill>
                  <a:srgbClr val="38BDF8"/>
                </a:solidFill>
                <a:latin typeface="Arial"/>
              </a:defRPr>
            </a:pPr>
            <a:r>
              <a:t>1. Visual Canvas Layer</a:t>
            </a:r>
          </a:p>
          <a:p>
            <a:pPr>
              <a:spcBef>
                <a:spcPts val="4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React Flow DAG Engine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  <a:latin typeface="Calibri"/>
              </a:defRPr>
            </a:pPr>
            <a:r>
              <a:t>User drags states, sets, or logic gates and connects them with animated arrows on screen.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645920"/>
            <a:ext cx="1993392" cy="46634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28600"/>
          <a:lstStyle/>
          <a:p>
            <a:pPr algn="ctr">
              <a:defRPr sz="1150" b="1">
                <a:solidFill>
                  <a:srgbClr val="F59E0B"/>
                </a:solidFill>
                <a:latin typeface="Arial"/>
              </a:defRPr>
            </a:pPr>
            <a:r>
              <a:t>2. Graph Parser &amp; Store</a:t>
            </a:r>
          </a:p>
          <a:p>
            <a:pPr>
              <a:spcBef>
                <a:spcPts val="4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Zustand State Manager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  <a:latin typeface="Calibri"/>
              </a:defRPr>
            </a:pPr>
            <a:r>
              <a:t>Extracts nodes, edges, and symbols into clean mathematical models in milliseconds.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645920"/>
            <a:ext cx="1993392" cy="46634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EB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28600"/>
          <a:lstStyle/>
          <a:p>
            <a:pPr algn="ctr">
              <a:defRPr sz="1150" b="1">
                <a:solidFill>
                  <a:srgbClr val="EB3C3C"/>
                </a:solidFill>
                <a:latin typeface="Arial"/>
              </a:defRPr>
            </a:pPr>
            <a:r>
              <a:t>3. Mathematical Solvers</a:t>
            </a:r>
          </a:p>
          <a:p>
            <a:pPr>
              <a:spcBef>
                <a:spcPts val="4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Algorithmic Engine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  <a:latin typeface="Calibri"/>
              </a:defRPr>
            </a:pPr>
            <a:r>
              <a:t>Runs DFA simulation, Hopcroft minimization, Warshall's algorithm, and truth tables.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199" y="1645920"/>
            <a:ext cx="1993392" cy="46634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28600"/>
          <a:lstStyle/>
          <a:p>
            <a:pPr algn="ctr">
              <a:defRPr sz="1150" b="1">
                <a:solidFill>
                  <a:srgbClr val="10B981"/>
                </a:solidFill>
                <a:latin typeface="Arial"/>
              </a:defRPr>
            </a:pPr>
            <a:r>
              <a:t>4. Visual Output Panels</a:t>
            </a:r>
          </a:p>
          <a:p>
            <a:pPr>
              <a:spcBef>
                <a:spcPts val="4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Interactive Dock Views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  <a:latin typeface="Calibri"/>
              </a:defRPr>
            </a:pPr>
            <a:r>
              <a:t>Displays dynamic Venn diagrams, step logs, test suite badges, and matrix tables.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1645920"/>
            <a:ext cx="1993392" cy="46634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28600"/>
          <a:lstStyle/>
          <a:p>
            <a:pPr algn="ctr">
              <a:defRPr sz="1150" b="1">
                <a:solidFill>
                  <a:srgbClr val="A855F7"/>
                </a:solidFill>
                <a:latin typeface="Arial"/>
              </a:defRPr>
            </a:pPr>
            <a:r>
              <a:t>5. LogicAI Tutor</a:t>
            </a:r>
          </a:p>
          <a:p>
            <a:pPr>
              <a:spcBef>
                <a:spcPts val="4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Live LLM + Local AST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  <a:latin typeface="Calibri"/>
              </a:defRPr>
            </a:pPr>
            <a:r>
              <a:t>Reads live canvas state and gives step-by-step explanations via Gemini API or local rules.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B3C3C"/>
                </a:solidFill>
                <a:latin typeface="Arial"/>
              </a:defRPr>
            </a:pPr>
            <a:r>
              <a:t>TECHNOLOGY CHOICES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Modern Tech Stack Built for Performance and Speed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5912" cy="36576"/>
          </a:xfrm>
          <a:prstGeom prst="rect">
            <a:avLst/>
          </a:prstGeom>
          <a:solidFill>
            <a:srgbClr val="EB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10712" cy="21488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200" b="1">
                <a:solidFill>
                  <a:srgbClr val="38BDF8"/>
                </a:solidFill>
                <a:latin typeface="Arial"/>
              </a:defRPr>
            </a:pPr>
            <a:r>
              <a:t>Next.js 16 &amp; React 19</a:t>
            </a:r>
          </a:p>
          <a:p>
            <a:pPr>
              <a:spcBef>
                <a:spcPts val="200"/>
              </a:spcBef>
              <a:defRPr sz="1000">
                <a:solidFill>
                  <a:srgbClr val="FCD34D"/>
                </a:solidFill>
                <a:latin typeface="Arial"/>
              </a:defRPr>
            </a:pPr>
            <a:r>
              <a:t>Modern Web Framework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  <a:latin typeface="Calibri"/>
              </a:defRPr>
            </a:pPr>
            <a:r>
              <a:t>Provides server-side rendering, App Router, and lightning-fast page loading with zero lag.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410712" cy="21488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200" b="1">
                <a:solidFill>
                  <a:srgbClr val="F59E0B"/>
                </a:solidFill>
                <a:latin typeface="Arial"/>
              </a:defRPr>
            </a:pPr>
            <a:r>
              <a:t>React Flow Canvas</a:t>
            </a:r>
          </a:p>
          <a:p>
            <a:pPr>
              <a:spcBef>
                <a:spcPts val="200"/>
              </a:spcBef>
              <a:defRPr sz="1000">
                <a:solidFill>
                  <a:srgbClr val="FCD34D"/>
                </a:solidFill>
                <a:latin typeface="Arial"/>
              </a:defRPr>
            </a:pPr>
            <a:r>
              <a:t>Graph Visualization Engine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  <a:latin typeface="Calibri"/>
              </a:defRPr>
            </a:pPr>
            <a:r>
              <a:t>Renders custom double-ring accept states, glowing nodes, and animated transition lines seamlessly.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410712" cy="21488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200" b="1">
                <a:solidFill>
                  <a:srgbClr val="10B981"/>
                </a:solidFill>
                <a:latin typeface="Arial"/>
              </a:defRPr>
            </a:pPr>
            <a:r>
              <a:t>Zustand State Store</a:t>
            </a:r>
          </a:p>
          <a:p>
            <a:pPr>
              <a:spcBef>
                <a:spcPts val="200"/>
              </a:spcBef>
              <a:defRPr sz="1000">
                <a:solidFill>
                  <a:srgbClr val="FCD34D"/>
                </a:solidFill>
                <a:latin typeface="Arial"/>
              </a:defRPr>
            </a:pPr>
            <a:r>
              <a:t>Centralized State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  <a:latin typeface="Calibri"/>
              </a:defRPr>
            </a:pPr>
            <a:r>
              <a:t>Ensures immediate canvas re-computation so every click or connection updates tables instantly.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3410712" cy="21488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EB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200" b="1">
                <a:solidFill>
                  <a:srgbClr val="EB3C3C"/>
                </a:solidFill>
                <a:latin typeface="Arial"/>
              </a:defRPr>
            </a:pPr>
            <a:r>
              <a:t>TypeScript &amp; Vitest</a:t>
            </a:r>
          </a:p>
          <a:p>
            <a:pPr>
              <a:spcBef>
                <a:spcPts val="200"/>
              </a:spcBef>
              <a:defRPr sz="1000">
                <a:solidFill>
                  <a:srgbClr val="FCD34D"/>
                </a:solidFill>
                <a:latin typeface="Arial"/>
              </a:defRPr>
            </a:pPr>
            <a:r>
              <a:t>Type Safety &amp; Testing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  <a:latin typeface="Calibri"/>
              </a:defRPr>
            </a:pPr>
            <a:r>
              <a:t>Strict typing across all math formulas with 51 automated unit tests verifying algorithm correctness.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4023360"/>
            <a:ext cx="3410712" cy="21488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200" b="1">
                <a:solidFill>
                  <a:srgbClr val="A855F7"/>
                </a:solidFill>
                <a:latin typeface="Arial"/>
              </a:defRPr>
            </a:pPr>
            <a:r>
              <a:t>Google Gemini &amp; LLMs</a:t>
            </a:r>
          </a:p>
          <a:p>
            <a:pPr>
              <a:spcBef>
                <a:spcPts val="200"/>
              </a:spcBef>
              <a:defRPr sz="1000">
                <a:solidFill>
                  <a:srgbClr val="FCD34D"/>
                </a:solidFill>
                <a:latin typeface="Arial"/>
              </a:defRPr>
            </a:pPr>
            <a:r>
              <a:t>AI Reasoning Engine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  <a:latin typeface="Calibri"/>
              </a:defRPr>
            </a:pPr>
            <a:r>
              <a:t>Connects LogicAI to frontier language models with live canvas state injected into prompts.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4023360"/>
            <a:ext cx="3410712" cy="21488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200" b="1">
                <a:solidFill>
                  <a:srgbClr val="38BDF8"/>
                </a:solidFill>
                <a:latin typeface="Arial"/>
              </a:defRPr>
            </a:pPr>
            <a:r>
              <a:t>Tailwind CSS</a:t>
            </a:r>
          </a:p>
          <a:p>
            <a:pPr>
              <a:spcBef>
                <a:spcPts val="200"/>
              </a:spcBef>
              <a:defRPr sz="1000">
                <a:solidFill>
                  <a:srgbClr val="FCD34D"/>
                </a:solidFill>
                <a:latin typeface="Arial"/>
              </a:defRPr>
            </a:pPr>
            <a:r>
              <a:t>Premium Dark Mode Theme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  <a:latin typeface="Calibri"/>
              </a:defRPr>
            </a:pPr>
            <a:r>
              <a:t>Custom dark UI with glassmorphism, responsive panels, and smooth micro-animations.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B3C3C"/>
                </a:solidFill>
                <a:latin typeface="Arial"/>
              </a:defRPr>
            </a:pPr>
            <a:r>
              <a:t>FOUNDATIONS OF DISCRETE MATH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Module 1: Set Theory &amp; Dynamic Venn Diagrams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5912" cy="36576"/>
          </a:xfrm>
          <a:prstGeom prst="rect">
            <a:avLst/>
          </a:prstGeom>
          <a:solidFill>
            <a:srgbClr val="EB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defRPr sz="1300" b="1">
                <a:solidFill>
                  <a:srgbClr val="38BDF8"/>
                </a:solidFill>
                <a:latin typeface="Arial"/>
              </a:defRPr>
            </a:pPr>
            <a:r>
              <a:t>SET OPERATIONS ON CANVAS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• Visual Set Builder: Create sets like A = {1, 2, 3} and B = {3, 4, 5} with customizable colors.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• Full Operation Suite: Connect sets into Union (A ∪ B), Intersection (A ∩ B), and Difference (A - B).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• Advanced Operations: Compute Symmetric Difference (A ⊕ B), Cartesian Product (A × B), and Power Set P(A).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• Live Cardinality Output: Instantly see size calculations |A ∪ B| and automatic duplicate element removal.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defRPr sz="1300" b="1">
                <a:solidFill>
                  <a:srgbClr val="F59E0B"/>
                </a:solidFill>
                <a:latin typeface="Arial"/>
              </a:defRPr>
            </a:pPr>
            <a:r>
              <a:t>DYNAMIC SVG VENN DIAGRAMS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2-Set &amp; 3-Set Support: Switch seamlessly between 2-circle and 3-circle mathematical Venn diagrams.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8-Region Partitioning: Elements are automatically sorted into their exact mathematical intersection zones.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Active Region Glow: The region matching your active operation lights up with a colorful visual glow.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Roster Notation: Displays clean bracket notation like {1, 2, 4, 5} alongside diagram graphics.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B3C3C"/>
                </a:solidFill>
                <a:latin typeface="Arial"/>
              </a:defRPr>
            </a:pPr>
            <a:r>
              <a:t>FORMAL LOGIC &amp; VERIFICATION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Module 2: Propositional Logic &amp; Truth Tables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5912" cy="36576"/>
          </a:xfrm>
          <a:prstGeom prst="rect">
            <a:avLst/>
          </a:prstGeom>
          <a:solidFill>
            <a:srgbClr val="EB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defRPr sz="1300" b="1">
                <a:solidFill>
                  <a:srgbClr val="A855F7"/>
                </a:solidFill>
                <a:latin typeface="Arial"/>
              </a:defRPr>
            </a:pPr>
            <a:r>
              <a:t>LOGIC GATES CANVAS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• Proposition Variables: Place boolean inputs P, Q, R with simple True / False clickable toggle buttons.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• Standard Logic Gates: Connect variables through AND (∧), OR (∨), NOT (¬), IMPLIES (→), and IFF (↔).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• Live Value Propagation: Toggle any variable and watch True/False values travel through the gates immediately.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• Formula Synthesizer: Automatically generates standard mathematical Well-Formed Formulas (WFF).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defRPr sz="1300" b="1">
                <a:solidFill>
                  <a:srgbClr val="10B981"/>
                </a:solidFill>
                <a:latin typeface="Arial"/>
              </a:defRPr>
            </a:pPr>
            <a:r>
              <a:t>TRUTH TABLES &amp; FORMAL PROOFS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Full Truth Tables: Generates complete 2^n interpretation tables showing every combination of T and F.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Canonical DNF &amp; CNF: Automatically calculates Disjunctive and Conjunctive Normal Forms for the formula.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Tautology Checker: Instantly verifies if an expression is always True (Tautology) or always False (Contradiction).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Counter-Example Finder: If a theorem is invalid, it highlights the exact variable assignment that breaks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B3C3C"/>
                </a:solidFill>
                <a:latin typeface="Arial"/>
              </a:defRPr>
            </a:pPr>
            <a:r>
              <a:t>ADVANCED THEORETICAL TOOLS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Module 3: Step-by-Step Mathematical Proof Solvers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5912" cy="36576"/>
          </a:xfrm>
          <a:prstGeom prst="rect">
            <a:avLst/>
          </a:prstGeom>
          <a:solidFill>
            <a:srgbClr val="EB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10712" cy="46634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200" b="1">
                <a:solidFill>
                  <a:srgbClr val="F59E0B"/>
                </a:solidFill>
                <a:latin typeface="Arial"/>
              </a:defRPr>
            </a:pPr>
            <a:r>
              <a:t>INCLUSION-EXCLUSION (PIE)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Calibri"/>
              </a:defRPr>
            </a:pPr>
            <a:r>
              <a:t>• Step-by-step arithmetic: Solves survey and counting problems with 2 and 3 sets.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Calibri"/>
              </a:defRPr>
            </a:pPr>
            <a:r>
              <a:t>• Formula breakdown: Shows |A ∪ B| = |A| + |B| - |A ∩ B| step-by-step.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Calibri"/>
              </a:defRPr>
            </a:pPr>
            <a:r>
              <a:t>• Real-world presets: Includes sample problems (sports, languages, courses).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410712" cy="46634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200" b="1">
                <a:solidFill>
                  <a:srgbClr val="38BDF8"/>
                </a:solidFill>
                <a:latin typeface="Arial"/>
              </a:defRPr>
            </a:pPr>
            <a:r>
              <a:t>CANTOR'S DIAGONALIZATION</a:t>
            </a:r>
          </a:p>
          <a:p>
            <a:pPr>
              <a:spcBef>
                <a:spcPts val="800"/>
              </a:spcBef>
              <a:defRPr sz="1050">
                <a:solidFill>
                  <a:srgbClr val="FFFFFF"/>
                </a:solidFill>
                <a:latin typeface="Calibri"/>
              </a:defRPr>
            </a:pPr>
            <a:r>
              <a:t>• Uncountability of Real Numbers: Proves why real numbers cannot be listed in a 1-to-1 list with integers.</a:t>
            </a:r>
          </a:p>
          <a:p>
            <a:pPr>
              <a:spcBef>
                <a:spcPts val="800"/>
              </a:spcBef>
              <a:defRPr sz="1050">
                <a:solidFill>
                  <a:srgbClr val="FFFFFF"/>
                </a:solidFill>
                <a:latin typeface="Calibri"/>
              </a:defRPr>
            </a:pPr>
            <a:r>
              <a:t>• Live Anti-Diagonal: Inverts the diagonal digits to construct a new number not in the list.</a:t>
            </a:r>
          </a:p>
          <a:p>
            <a:pPr>
              <a:spcBef>
                <a:spcPts val="800"/>
              </a:spcBef>
              <a:defRPr sz="1050">
                <a:solidFill>
                  <a:srgbClr val="FFFFFF"/>
                </a:solidFill>
                <a:latin typeface="Calibri"/>
              </a:defRPr>
            </a:pPr>
            <a:r>
              <a:t>• Cantor's Snake Path: Visualizes positive rationals Q+ demonstrating countability.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410712" cy="46634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EB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200" b="1">
                <a:solidFill>
                  <a:srgbClr val="EB3C3C"/>
                </a:solidFill>
                <a:latin typeface="Arial"/>
              </a:defRPr>
            </a:pPr>
            <a:r>
              <a:t>MATHEMATICAL INDUCTION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Calibri"/>
              </a:defRPr>
            </a:pPr>
            <a:r>
              <a:t>• Theorem Derivations: Interactive step-by-step derivations for summation theorems (e.g. 1+2+...+n).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Calibri"/>
              </a:defRPr>
            </a:pPr>
            <a:r>
              <a:t>• 3-Stage Structure: Breaks down Base Step P(1), Inductive Hypothesis P(k), and Inductive Step P(k+1).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Calibri"/>
              </a:defRPr>
            </a:pPr>
            <a:r>
              <a:t>• Visual Verification: Validates step logic so students learn how to structure mathematical proofs.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B3C3C"/>
                </a:solidFill>
                <a:latin typeface="Arial"/>
              </a:defRPr>
            </a:pPr>
            <a:r>
              <a:t>ALGEBRAIC SYSTEMS &amp; STRUCTURES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Module 4: Relations, Order Theory &amp; Functions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5912" cy="36576"/>
          </a:xfrm>
          <a:prstGeom prst="rect">
            <a:avLst/>
          </a:prstGeom>
          <a:solidFill>
            <a:srgbClr val="EB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defRPr sz="1300" b="1">
                <a:solidFill>
                  <a:srgbClr val="F59E0B"/>
                </a:solidFill>
                <a:latin typeface="Arial"/>
              </a:defRPr>
            </a:pPr>
            <a:r>
              <a:t>RELATION MATRIX &amp; PROPERTIES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• Interactive Matrix Grid: Click grid cells to toggle pairs (a, b) on a finite set A = {1, 2, 3, 4}.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• Instant Property Checking: Real-time verification of Reflexive, Symmetric, Transitive, and Anti-symmetric properties.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• Equivalence Relations: Highlights when a relation forms equivalence classes [a] and partitions the set.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• Warshall's Algorithm: Step-by-step matrix derivation computing Transitive Closure R+ in O(n^3) operations.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defRPr sz="1300" b="1">
                <a:solidFill>
                  <a:srgbClr val="A855F7"/>
                </a:solidFill>
                <a:latin typeface="Arial"/>
              </a:defRPr>
            </a:pPr>
            <a:r>
              <a:t>HASSE DIAGRAMS &amp; FUNCTIONS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Hasse Diagrams for Posets: Draws clean order hierarchy trees by stripping redundant self-loops and transitive edges.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Lattice &amp; Bound Detection: Identifies maximal/minimal elements, bounds, and partial order structures.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Function Mapping Analyzer: Visual arrow diagrams connecting domain elements to codomain targets.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Function Types: Automatically classifies mappings as Injective (one-to-one), Surjective (onto), or Bijective.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B3C3C"/>
                </a:solidFill>
                <a:latin typeface="Arial"/>
              </a:defRPr>
            </a:pPr>
            <a:r>
              <a:t>AUTOMATA THEORY &amp; STATE MACHINES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Module 5: Finite Automata (DFA / NFA) Visualizer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5912" cy="36576"/>
          </a:xfrm>
          <a:prstGeom prst="rect">
            <a:avLst/>
          </a:prstGeom>
          <a:solidFill>
            <a:srgbClr val="EB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defRPr sz="1300" b="1">
                <a:solidFill>
                  <a:srgbClr val="38BDF8"/>
                </a:solidFill>
                <a:latin typeface="Arial"/>
              </a:defRPr>
            </a:pPr>
            <a:r>
              <a:t>STATE GRAPH CANVAS &amp; SIMULATION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• Custom Circular States: Add states q0, q1 with start arrow (→q0) and concentric double-rings for accept states.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• Glowing Step Playback: Type an input string (e.g. '101') and watch active states glow with animated pulse rings.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• Active Edge Highlighting: Transition arrows light up with a drop-shadow glow as characters are consumed.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• Batch Test Suite: Test multiple strings simultaneously with green ACCEPTED and red REJECTED badges.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EB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defRPr sz="1300" b="1">
                <a:solidFill>
                  <a:srgbClr val="EB3C3C"/>
                </a:solidFill>
                <a:latin typeface="Arial"/>
              </a:defRPr>
            </a:pPr>
            <a:r>
              <a:t>CONVERSION &amp; MINIMIZATION SOLVERS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NFA → DFA Subset Construction: Calculates ε-closures and powerset tables with 1-click 'Load Converted DFA to Canvas'.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Hopcroft DFA Minimization: Runs partition refinement (0-equiv, 1-equiv) and builds the Distinguishability Matrix.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1-Click Minimal Graph: Instantly merges redundant states and renders the minimal equivalent DFA on screen.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Moore ⇄ Mealy Transducers: Simulates state-output vs edge-output machines with cumulative output sequences.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B3C3C"/>
                </a:solidFill>
                <a:latin typeface="Arial"/>
              </a:defRPr>
            </a:pPr>
            <a:r>
              <a:t>INTELLIGENT AI TUTORING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LogicAI: Context-Aware Mathematical Tutor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5912" cy="36576"/>
          </a:xfrm>
          <a:prstGeom prst="rect">
            <a:avLst/>
          </a:prstGeom>
          <a:solidFill>
            <a:srgbClr val="EB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defRPr sz="1300" b="1">
                <a:solidFill>
                  <a:srgbClr val="A855F7"/>
                </a:solidFill>
                <a:latin typeface="Arial"/>
              </a:defRPr>
            </a:pPr>
            <a:r>
              <a:t>LIVE CANVAS CONTEXT INJECTION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• Direct Canvas Visibility: LogicAI actually sees what is on your screen: active states, gate inputs, sets, and formulas.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• Step-by-Step Explanations: Click 'Explain this step' to learn exactly why state q0 moved to q1 on reading symbol '0'.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• Diagnostic Feedback: Detects disconnected handles, duplicate elements, or invalid transitions and suggests remedies.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• Quick-Action Buttons: One-click chips for 'Explain this step', 'Generate example', and 'Give me a hint'.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defRPr sz="1300" b="1">
                <a:solidFill>
                  <a:srgbClr val="38BDF8"/>
                </a:solidFill>
                <a:latin typeface="Arial"/>
              </a:defRPr>
            </a:pPr>
            <a:r>
              <a:t>HYBRID LLM + LOCAL ENGINE ARCHITECTURE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Next.js /api/chat Route: Server route connecting LogicAI directly to Google Gemini and OpenAI models.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In-App Settings Modal: Students can connect their own free Gemini or Groq API key directly in the UI.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Answers ANY Question: With live LLM connected, answers open-ended questions across all computer science theory.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Zero-Crash Offline Fallback: If no key or internet is available, falls back to local mathematical AST rules smoothly.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B3C3C"/>
                </a:solidFill>
                <a:latin typeface="Arial"/>
              </a:defRPr>
            </a:pPr>
            <a:r>
              <a:t>PROJECT EXECUTION &amp; OWNERSHIP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Team Roles and Individual Contribution Breakdown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5912" cy="36576"/>
          </a:xfrm>
          <a:prstGeom prst="rect">
            <a:avLst/>
          </a:prstGeom>
          <a:solidFill>
            <a:srgbClr val="EB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993392" cy="46634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28600"/>
          <a:lstStyle/>
          <a:p>
            <a:pPr algn="ctr">
              <a:defRPr sz="1300" b="1">
                <a:solidFill>
                  <a:srgbClr val="38BDF8"/>
                </a:solidFill>
                <a:latin typeface="Arial"/>
              </a:defRPr>
            </a:pPr>
            <a:r>
              <a:t>Team Member 1</a:t>
            </a:r>
          </a:p>
          <a:p>
            <a:pPr>
              <a:spcBef>
                <a:spcPts val="300"/>
              </a:spcBef>
              <a:defRPr sz="950" b="1">
                <a:solidFill>
                  <a:srgbClr val="FFFFFF"/>
                </a:solidFill>
                <a:latin typeface="Arial"/>
              </a:defRPr>
            </a:pPr>
            <a:r>
              <a:t>Lead Architect &amp; Automata Engineer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  <a:latin typeface="Calibri"/>
              </a:defRPr>
            </a:pPr>
            <a:r>
              <a:t>Finite Automata (DFA/NFA simulator, NFA-&gt;DFA, Minimization) + LogicAI Chatbot (LLM integration &amp; context) + Frontend Shell.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645920"/>
            <a:ext cx="1993392" cy="46634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28600"/>
          <a:lstStyle/>
          <a:p>
            <a:pPr algn="ctr">
              <a:defRPr sz="1300" b="1">
                <a:solidFill>
                  <a:srgbClr val="F59E0B"/>
                </a:solidFill>
                <a:latin typeface="Arial"/>
              </a:defRPr>
            </a:pPr>
            <a:r>
              <a:t>Team Member 2</a:t>
            </a:r>
          </a:p>
          <a:p>
            <a:pPr>
              <a:spcBef>
                <a:spcPts val="300"/>
              </a:spcBef>
              <a:defRPr sz="950" b="1">
                <a:solidFill>
                  <a:srgbClr val="FFFFFF"/>
                </a:solidFill>
                <a:latin typeface="Arial"/>
              </a:defRPr>
            </a:pPr>
            <a:r>
              <a:t>Set Theory &amp; Venn Specialist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  <a:latin typeface="Calibri"/>
              </a:defRPr>
            </a:pPr>
            <a:r>
              <a:t>Core Set Operations (Union, Intersection, Difference, Power Set) + Dynamic 2-Set &amp; 3-Set SVG Venn Diagram partitioning.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645920"/>
            <a:ext cx="1993392" cy="46634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28600"/>
          <a:lstStyle/>
          <a:p>
            <a:pPr algn="ctr">
              <a:defRPr sz="1300" b="1">
                <a:solidFill>
                  <a:srgbClr val="10B981"/>
                </a:solidFill>
                <a:latin typeface="Arial"/>
              </a:defRPr>
            </a:pPr>
            <a:r>
              <a:t>Team Member 3</a:t>
            </a:r>
          </a:p>
          <a:p>
            <a:pPr>
              <a:spcBef>
                <a:spcPts val="300"/>
              </a:spcBef>
              <a:defRPr sz="950" b="1">
                <a:solidFill>
                  <a:srgbClr val="FFFFFF"/>
                </a:solidFill>
                <a:latin typeface="Arial"/>
              </a:defRPr>
            </a:pPr>
            <a:r>
              <a:t>Propositional Logic Specialist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  <a:latin typeface="Calibri"/>
              </a:defRPr>
            </a:pPr>
            <a:r>
              <a:t>Logic Gate DAG Canvas (AND, OR, NOT, IMPLIES) + 16-variable Truth Table generator + DNF/CNF canonical forms &amp; Tautology checker.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199" y="1645920"/>
            <a:ext cx="1993392" cy="46634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28600"/>
          <a:lstStyle/>
          <a:p>
            <a:pPr algn="ctr">
              <a:defRPr sz="1300" b="1">
                <a:solidFill>
                  <a:srgbClr val="A855F7"/>
                </a:solidFill>
                <a:latin typeface="Arial"/>
              </a:defRPr>
            </a:pPr>
            <a:r>
              <a:t>Team Member 4</a:t>
            </a:r>
          </a:p>
          <a:p>
            <a:pPr>
              <a:spcBef>
                <a:spcPts val="300"/>
              </a:spcBef>
              <a:defRPr sz="950" b="1">
                <a:solidFill>
                  <a:srgbClr val="FFFFFF"/>
                </a:solidFill>
                <a:latin typeface="Arial"/>
              </a:defRPr>
            </a:pPr>
            <a:r>
              <a:t>Proof &amp; Verification Specialist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  <a:latin typeface="Calibri"/>
              </a:defRPr>
            </a:pPr>
            <a:r>
              <a:t>Principle of Inclusion-Exclusion (PIE) Solver + Cantor's Diagonalization proof visualizer + Mathematical Induction steps.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1645920"/>
            <a:ext cx="1993392" cy="46634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EB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28600"/>
          <a:lstStyle/>
          <a:p>
            <a:pPr algn="ctr">
              <a:defRPr sz="1300" b="1">
                <a:solidFill>
                  <a:srgbClr val="EB3C3C"/>
                </a:solidFill>
                <a:latin typeface="Arial"/>
              </a:defRPr>
            </a:pPr>
            <a:r>
              <a:t>Team Member 5</a:t>
            </a:r>
          </a:p>
          <a:p>
            <a:pPr>
              <a:spcBef>
                <a:spcPts val="300"/>
              </a:spcBef>
              <a:defRPr sz="950" b="1">
                <a:solidFill>
                  <a:srgbClr val="FFFFFF"/>
                </a:solidFill>
                <a:latin typeface="Arial"/>
              </a:defRPr>
            </a:pPr>
            <a:r>
              <a:t>Relations &amp; Order Theory Specialist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  <a:latin typeface="Calibri"/>
              </a:defRPr>
            </a:pPr>
            <a:r>
              <a:t>Binary Relation Matrix (Reflexive/Symmetric/Transitive) + Warshall's Algorithm transitive closure + Hasse Diagrams &amp; Function Mapper.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B3C3C"/>
                </a:solidFill>
                <a:latin typeface="Arial"/>
              </a:defRPr>
            </a:pPr>
            <a:r>
              <a:t>UPCOMING EXPANSIONS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Future Roadmap: Context-Free Grammars &amp; Turing Machines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5912" cy="36576"/>
          </a:xfrm>
          <a:prstGeom prst="rect">
            <a:avLst/>
          </a:prstGeom>
          <a:solidFill>
            <a:srgbClr val="EB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defRPr sz="1200" b="1">
                <a:solidFill>
                  <a:srgbClr val="F59E0B"/>
                </a:solidFill>
                <a:latin typeface="Arial"/>
              </a:defRPr>
            </a:pPr>
            <a:r>
              <a:t>MODULE 6: CONTEXT-FREE GRAMMAR (CFG) [NEXT PHASE]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Grammar Rule Builder: Interactive UI to define production rules like S -&gt; aSb | ε.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Dynamic Parse Trees: Visual hierarchical syntax tree generation showing string derivations.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Chomsky Normal Form (CNF): Automated 4-step converter eliminating ε-rules and unit rules.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CYK Parsing Algorithm: Dynamic programming triangular parsing table in O(n^3)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defRPr sz="1200" b="1">
                <a:solidFill>
                  <a:srgbClr val="A855F7"/>
                </a:solidFill>
                <a:latin typeface="Arial"/>
              </a:defRPr>
            </a:pPr>
            <a:r>
              <a:t>MODULE 7: PDA &amp; TURING MACHINES [NEXT PHASE]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Pushdown Automata (PDA): Interactive LIFO stack animator showing push and pop transitions.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Acceptance Criteria: Visualize acceptance by Final State vs Empty Stack.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Turing Machine Infinite Tape: Interactive 2-way tape with head movements (Left, Right, Stay).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Halting Problem Proofs: Visual explanations of computability limits and undecidable languages.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B3C3C"/>
                </a:solidFill>
                <a:latin typeface="Arial"/>
              </a:defRPr>
            </a:pPr>
            <a:r>
              <a:t>SUMMARY &amp; IMPACT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Conclusion: Making Computer Science Theory Tangible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5912" cy="36576"/>
          </a:xfrm>
          <a:prstGeom prst="rect">
            <a:avLst/>
          </a:prstGeom>
          <a:solidFill>
            <a:srgbClr val="EB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5912" cy="46634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rIns="411480" tIns="365760"/>
          <a:lstStyle/>
          <a:p>
            <a:pPr algn="ctr">
              <a:defRPr sz="1500" b="1">
                <a:solidFill>
                  <a:srgbClr val="10B981"/>
                </a:solidFill>
                <a:latin typeface="Arial"/>
              </a:defRPr>
            </a:pPr>
            <a:r>
              <a:t>LOGICVERSE IMPACT SUMMARY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  <a:latin typeface="Calibri"/>
              </a:defRPr>
            </a:pPr>
            <a:r>
              <a:t>✓  Replaces Static Textbooks with Interactive Simulation: Students learn math by building graphs, testing strings, and watching state transitions live.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  <a:latin typeface="Calibri"/>
              </a:defRPr>
            </a:pPr>
            <a:r>
              <a:t>✓  5 Core Disciplines Fully Operational: Set Theory, Propositional Logic, Proof Solvers, Relations/Functions, and Finite Automata working with 51 passing automated tests.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  <a:latin typeface="Calibri"/>
              </a:defRPr>
            </a:pPr>
            <a:r>
              <a:t>✓  Real AI Context Integration: LogicAI is not a generic chatbot; it has direct visibility into canvas nodes and gives personalized pedagogical guidance.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  <a:latin typeface="Calibri"/>
              </a:defRPr>
            </a:pPr>
            <a:r>
              <a:t>✓  Production Quality Engineering: Built on Next.js 16, React Flow, TypeScript, and Tailwind CSS with instant load times and zero compilation errors.</a:t>
            </a:r>
          </a:p>
          <a:p>
            <a:pPr>
              <a:spcBef>
                <a:spcPts val="2000"/>
              </a:spcBef>
              <a:defRPr sz="1300" b="1">
                <a:solidFill>
                  <a:srgbClr val="FCD34D"/>
                </a:solidFill>
                <a:latin typeface="Arial"/>
              </a:defRPr>
            </a:pPr>
            <a:r>
              <a:t>Thank You! • Open for Live Demonstration &amp;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